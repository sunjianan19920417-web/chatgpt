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1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2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4fd1481f3842cf" /><Relationship Type="http://schemas.openxmlformats.org/officeDocument/2006/relationships/extended-properties" Target="/docProps/app.xml" Id="R24e66d9291d54ed3" /><Relationship Type="http://schemas.openxmlformats.org/officeDocument/2006/relationships/officeDocument" Target="/ppt/presentation.xml" Id="R62d3d14fadfd42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f1a006a4924929"/>
  </p:sldMasterIdLst>
  <p:notesMasterIdLst>
    <p:notesMasterId xmlns:r="http://schemas.openxmlformats.org/officeDocument/2006/relationships" r:id="Ra408170a7fd14104"/>
  </p:notesMasterIdLst>
  <p:sldIdLst>
    <p:sldId xmlns:r="http://schemas.openxmlformats.org/officeDocument/2006/relationships" id="256" r:id="R473ae0c869eb40be"/>
    <p:sldId xmlns:r="http://schemas.openxmlformats.org/officeDocument/2006/relationships" id="257" r:id="R83ee003987c94529"/>
    <p:sldId xmlns:r="http://schemas.openxmlformats.org/officeDocument/2006/relationships" id="258" r:id="R1455dcff6d0b4348"/>
    <p:sldId xmlns:r="http://schemas.openxmlformats.org/officeDocument/2006/relationships" id="259" r:id="R5dc932ac8b4f4e6f"/>
    <p:sldId xmlns:r="http://schemas.openxmlformats.org/officeDocument/2006/relationships" id="260" r:id="R41ba7010cd2e48f7"/>
    <p:sldId xmlns:r="http://schemas.openxmlformats.org/officeDocument/2006/relationships" id="261" r:id="R9a4e62a96c2b4bd3"/>
    <p:sldId xmlns:r="http://schemas.openxmlformats.org/officeDocument/2006/relationships" id="262" r:id="Rb5d3276f9e004e8a"/>
    <p:sldId xmlns:r="http://schemas.openxmlformats.org/officeDocument/2006/relationships" id="263" r:id="Rcfd4c83b43154ac2"/>
    <p:sldId xmlns:r="http://schemas.openxmlformats.org/officeDocument/2006/relationships" id="264" r:id="R53455851ae884524"/>
    <p:sldId xmlns:r="http://schemas.openxmlformats.org/officeDocument/2006/relationships" id="265" r:id="R98fdd258a1904038"/>
    <p:sldId xmlns:r="http://schemas.openxmlformats.org/officeDocument/2006/relationships" id="266" r:id="Raa5797c491704662"/>
    <p:sldId xmlns:r="http://schemas.openxmlformats.org/officeDocument/2006/relationships" id="267" r:id="R2b86dc2e3a044229"/>
    <p:sldId xmlns:r="http://schemas.openxmlformats.org/officeDocument/2006/relationships" id="268" r:id="R732fe658a369476d"/>
    <p:sldId xmlns:r="http://schemas.openxmlformats.org/officeDocument/2006/relationships" id="269" r:id="R10c7a3a120b34321"/>
    <p:sldId xmlns:r="http://schemas.openxmlformats.org/officeDocument/2006/relationships" id="270" r:id="R2ca6704ad805437f"/>
    <p:sldId xmlns:r="http://schemas.openxmlformats.org/officeDocument/2006/relationships" id="271" r:id="Ra99fbfb6a8b5463f"/>
    <p:sldId xmlns:r="http://schemas.openxmlformats.org/officeDocument/2006/relationships" id="272" r:id="R6fadc3d2f51b4b91"/>
    <p:sldId xmlns:r="http://schemas.openxmlformats.org/officeDocument/2006/relationships" id="273" r:id="R0990e6b78ee64d6f"/>
    <p:sldId xmlns:r="http://schemas.openxmlformats.org/officeDocument/2006/relationships" id="274" r:id="R2724a03d6ddd4365"/>
    <p:sldId xmlns:r="http://schemas.openxmlformats.org/officeDocument/2006/relationships" id="275" r:id="R4d0943391ce8455b"/>
    <p:sldId xmlns:r="http://schemas.openxmlformats.org/officeDocument/2006/relationships" id="276" r:id="Rad8622ce2b08408e"/>
    <p:sldId xmlns:r="http://schemas.openxmlformats.org/officeDocument/2006/relationships" id="277" r:id="Rabfe2e5016d94417"/>
    <p:sldId xmlns:r="http://schemas.openxmlformats.org/officeDocument/2006/relationships" id="278" r:id="R69b31163b83f48f7"/>
    <p:sldId xmlns:r="http://schemas.openxmlformats.org/officeDocument/2006/relationships" id="279" r:id="R5aef07358aef4a7d"/>
    <p:sldId xmlns:r="http://schemas.openxmlformats.org/officeDocument/2006/relationships" id="280" r:id="R4de123438b124fbb"/>
    <p:sldId xmlns:r="http://schemas.openxmlformats.org/officeDocument/2006/relationships" id="281" r:id="R6357d18035d74773"/>
    <p:sldId xmlns:r="http://schemas.openxmlformats.org/officeDocument/2006/relationships" id="282" r:id="R147ece52e2e74546"/>
    <p:sldId xmlns:r="http://schemas.openxmlformats.org/officeDocument/2006/relationships" id="283" r:id="Ra38bdd2cafe4492b"/>
    <p:sldId xmlns:r="http://schemas.openxmlformats.org/officeDocument/2006/relationships" id="284" r:id="Rf5c011b3f9514403"/>
    <p:sldId xmlns:r="http://schemas.openxmlformats.org/officeDocument/2006/relationships" id="285" r:id="R5fea4d66e009418c"/>
    <p:sldId xmlns:r="http://schemas.openxmlformats.org/officeDocument/2006/relationships" id="286" r:id="Rc6582fb138ce4940"/>
    <p:sldId xmlns:r="http://schemas.openxmlformats.org/officeDocument/2006/relationships" id="287" r:id="R5ffff0c7e90a446e"/>
    <p:sldId xmlns:r="http://schemas.openxmlformats.org/officeDocument/2006/relationships" id="288" r:id="R55a8787e8b204e34"/>
    <p:sldId xmlns:r="http://schemas.openxmlformats.org/officeDocument/2006/relationships" id="289" r:id="R440d637d313d4c1f"/>
    <p:sldId xmlns:r="http://schemas.openxmlformats.org/officeDocument/2006/relationships" id="290" r:id="Rdcd6a2948c5c4e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af98948cab4ba1" /><Relationship Type="http://schemas.openxmlformats.org/officeDocument/2006/relationships/slideMaster" Target="/ppt/slideMasters/slideMaster1.xml" Id="R54f1a006a4924929" /><Relationship Type="http://schemas.openxmlformats.org/officeDocument/2006/relationships/notesMaster" Target="/ppt/notesMasters/notesMaster1.xml" Id="Ra408170a7fd14104" /><Relationship Type="http://schemas.openxmlformats.org/officeDocument/2006/relationships/presProps" Target="/ppt/presProps.xml" Id="R097c2b28be0642ed" /><Relationship Type="http://schemas.openxmlformats.org/officeDocument/2006/relationships/tableStyles" Target="/ppt/tableStyles.xml" Id="Rca16386baff140da" /><Relationship Type="http://schemas.openxmlformats.org/officeDocument/2006/relationships/slide" Target="/ppt/slides/slide1.xml" Id="R473ae0c869eb40be" /><Relationship Type="http://schemas.openxmlformats.org/officeDocument/2006/relationships/slide" Target="/ppt/slides/slide2.xml" Id="R83ee003987c94529" /><Relationship Type="http://schemas.openxmlformats.org/officeDocument/2006/relationships/slide" Target="/ppt/slides/slide3.xml" Id="R1455dcff6d0b4348" /><Relationship Type="http://schemas.openxmlformats.org/officeDocument/2006/relationships/slide" Target="/ppt/slides/slide4.xml" Id="R5dc932ac8b4f4e6f" /><Relationship Type="http://schemas.openxmlformats.org/officeDocument/2006/relationships/slide" Target="/ppt/slides/slide5.xml" Id="R41ba7010cd2e48f7" /><Relationship Type="http://schemas.openxmlformats.org/officeDocument/2006/relationships/slide" Target="/ppt/slides/slide6.xml" Id="R9a4e62a96c2b4bd3" /><Relationship Type="http://schemas.openxmlformats.org/officeDocument/2006/relationships/slide" Target="/ppt/slides/slide7.xml" Id="Rb5d3276f9e004e8a" /><Relationship Type="http://schemas.openxmlformats.org/officeDocument/2006/relationships/slide" Target="/ppt/slides/slide8.xml" Id="Rcfd4c83b43154ac2" /><Relationship Type="http://schemas.openxmlformats.org/officeDocument/2006/relationships/slide" Target="/ppt/slides/slide9.xml" Id="R53455851ae884524" /><Relationship Type="http://schemas.openxmlformats.org/officeDocument/2006/relationships/slide" Target="/ppt/slides/slide10.xml" Id="R98fdd258a1904038" /><Relationship Type="http://schemas.openxmlformats.org/officeDocument/2006/relationships/slide" Target="/ppt/slides/slide11.xml" Id="Raa5797c491704662" /><Relationship Type="http://schemas.openxmlformats.org/officeDocument/2006/relationships/slide" Target="/ppt/slides/slide12.xml" Id="R2b86dc2e3a044229" /><Relationship Type="http://schemas.openxmlformats.org/officeDocument/2006/relationships/slide" Target="/ppt/slides/slide13.xml" Id="R732fe658a369476d" /><Relationship Type="http://schemas.openxmlformats.org/officeDocument/2006/relationships/slide" Target="/ppt/slides/slide14.xml" Id="R10c7a3a120b34321" /><Relationship Type="http://schemas.openxmlformats.org/officeDocument/2006/relationships/slide" Target="/ppt/slides/slide15.xml" Id="R2ca6704ad805437f" /><Relationship Type="http://schemas.openxmlformats.org/officeDocument/2006/relationships/slide" Target="/ppt/slides/slide16.xml" Id="Ra99fbfb6a8b5463f" /><Relationship Type="http://schemas.openxmlformats.org/officeDocument/2006/relationships/slide" Target="/ppt/slides/slide17.xml" Id="R6fadc3d2f51b4b91" /><Relationship Type="http://schemas.openxmlformats.org/officeDocument/2006/relationships/slide" Target="/ppt/slides/slide18.xml" Id="R0990e6b78ee64d6f" /><Relationship Type="http://schemas.openxmlformats.org/officeDocument/2006/relationships/slide" Target="/ppt/slides/slide19.xml" Id="R2724a03d6ddd4365" /><Relationship Type="http://schemas.openxmlformats.org/officeDocument/2006/relationships/slide" Target="/ppt/slides/slide20.xml" Id="R4d0943391ce8455b" /><Relationship Type="http://schemas.openxmlformats.org/officeDocument/2006/relationships/slide" Target="/ppt/slides/slide21.xml" Id="Rad8622ce2b08408e" /><Relationship Type="http://schemas.openxmlformats.org/officeDocument/2006/relationships/slide" Target="/ppt/slides/slide22.xml" Id="Rabfe2e5016d94417" /><Relationship Type="http://schemas.openxmlformats.org/officeDocument/2006/relationships/slide" Target="/ppt/slides/slide23.xml" Id="R69b31163b83f48f7" /><Relationship Type="http://schemas.openxmlformats.org/officeDocument/2006/relationships/slide" Target="/ppt/slides/slide24.xml" Id="R5aef07358aef4a7d" /><Relationship Type="http://schemas.openxmlformats.org/officeDocument/2006/relationships/slide" Target="/ppt/slides/slide25.xml" Id="R4de123438b124fbb" /><Relationship Type="http://schemas.openxmlformats.org/officeDocument/2006/relationships/slide" Target="/ppt/slides/slide26.xml" Id="R6357d18035d74773" /><Relationship Type="http://schemas.openxmlformats.org/officeDocument/2006/relationships/slide" Target="/ppt/slides/slide27.xml" Id="R147ece52e2e74546" /><Relationship Type="http://schemas.openxmlformats.org/officeDocument/2006/relationships/slide" Target="/ppt/slides/slide28.xml" Id="Ra38bdd2cafe4492b" /><Relationship Type="http://schemas.openxmlformats.org/officeDocument/2006/relationships/slide" Target="/ppt/slides/slide29.xml" Id="Rf5c011b3f9514403" /><Relationship Type="http://schemas.openxmlformats.org/officeDocument/2006/relationships/slide" Target="/ppt/slides/slide30.xml" Id="R5fea4d66e009418c" /><Relationship Type="http://schemas.openxmlformats.org/officeDocument/2006/relationships/slide" Target="/ppt/slides/slide31.xml" Id="Rc6582fb138ce4940" /><Relationship Type="http://schemas.openxmlformats.org/officeDocument/2006/relationships/slide" Target="/ppt/slides/slide32.xml" Id="R5ffff0c7e90a446e" /><Relationship Type="http://schemas.openxmlformats.org/officeDocument/2006/relationships/slide" Target="/ppt/slides/slide33.xml" Id="R55a8787e8b204e34" /><Relationship Type="http://schemas.openxmlformats.org/officeDocument/2006/relationships/slide" Target="/ppt/slides/slide34.xml" Id="R440d637d313d4c1f" /><Relationship Type="http://schemas.openxmlformats.org/officeDocument/2006/relationships/slide" Target="/ppt/slides/slide35.xml" Id="Rdcd6a2948c5c4e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7d65ce66c448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b5b0ff22624140" /><Relationship Type="http://schemas.openxmlformats.org/officeDocument/2006/relationships/notesMaster" Target="/ppt/notesMasters/notesMaster1.xml" Id="R4e053f45452c4d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7318684c3f4400" /><Relationship Type="http://schemas.openxmlformats.org/officeDocument/2006/relationships/notesMaster" Target="/ppt/notesMasters/notesMaster1.xml" Id="R6d4498d22e594e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1b089ef4b44b44" /><Relationship Type="http://schemas.openxmlformats.org/officeDocument/2006/relationships/notesMaster" Target="/ppt/notesMasters/notesMaster1.xml" Id="R2255ce970e7f40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13885b03ff400a" /><Relationship Type="http://schemas.openxmlformats.org/officeDocument/2006/relationships/notesMaster" Target="/ppt/notesMasters/notesMaster1.xml" Id="Rf22391bd8ad144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8fc97134ff44de" /><Relationship Type="http://schemas.openxmlformats.org/officeDocument/2006/relationships/notesMaster" Target="/ppt/notesMasters/notesMaster1.xml" Id="R5e2067894e2a4e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665963b7494d98" /><Relationship Type="http://schemas.openxmlformats.org/officeDocument/2006/relationships/notesMaster" Target="/ppt/notesMasters/notesMaster1.xml" Id="R793e08c631f74b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e8452fcc20456a" /><Relationship Type="http://schemas.openxmlformats.org/officeDocument/2006/relationships/notesMaster" Target="/ppt/notesMasters/notesMaster1.xml" Id="R7e3c05b0ff6e4c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8e9cc4e2134757" /><Relationship Type="http://schemas.openxmlformats.org/officeDocument/2006/relationships/notesMaster" Target="/ppt/notesMasters/notesMaster1.xml" Id="R14705e0e72474b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b07bbcbabe402a" /><Relationship Type="http://schemas.openxmlformats.org/officeDocument/2006/relationships/notesMaster" Target="/ppt/notesMasters/notesMaster1.xml" Id="Rad6c7cd9772847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836ec2cda64b45" /><Relationship Type="http://schemas.openxmlformats.org/officeDocument/2006/relationships/notesMaster" Target="/ppt/notesMasters/notesMaster1.xml" Id="Recfbf67f85f248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79152d52414d5e" /><Relationship Type="http://schemas.openxmlformats.org/officeDocument/2006/relationships/notesMaster" Target="/ppt/notesMasters/notesMaster1.xml" Id="Rddb2a49a3d444a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015703f2d141a9" /><Relationship Type="http://schemas.openxmlformats.org/officeDocument/2006/relationships/notesMaster" Target="/ppt/notesMasters/notesMaster1.xml" Id="Rc84350f41dba44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afb34edfc040ac" /><Relationship Type="http://schemas.openxmlformats.org/officeDocument/2006/relationships/notesMaster" Target="/ppt/notesMasters/notesMaster1.xml" Id="R083df9b193b543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709e32643d467c" /><Relationship Type="http://schemas.openxmlformats.org/officeDocument/2006/relationships/notesMaster" Target="/ppt/notesMasters/notesMaster1.xml" Id="R505e3a97f8ab45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627088cba0402f" /><Relationship Type="http://schemas.openxmlformats.org/officeDocument/2006/relationships/notesMaster" Target="/ppt/notesMasters/notesMaster1.xml" Id="R07e32f2569bf4c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b64d8496fc453c" /><Relationship Type="http://schemas.openxmlformats.org/officeDocument/2006/relationships/notesMaster" Target="/ppt/notesMasters/notesMaster1.xml" Id="Ra8bb801ae7de4e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11d7ce691b4ec2" /><Relationship Type="http://schemas.openxmlformats.org/officeDocument/2006/relationships/notesMaster" Target="/ppt/notesMasters/notesMaster1.xml" Id="Rad5033735fbc40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e01eaef2054aa7" /><Relationship Type="http://schemas.openxmlformats.org/officeDocument/2006/relationships/notesMaster" Target="/ppt/notesMasters/notesMaster1.xml" Id="Rc1f3ceb3eec7408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385375c6c54938" /><Relationship Type="http://schemas.openxmlformats.org/officeDocument/2006/relationships/notesMaster" Target="/ppt/notesMasters/notesMaster1.xml" Id="Re439327f93a74e8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db0718bb5ab44a8" /><Relationship Type="http://schemas.openxmlformats.org/officeDocument/2006/relationships/notesMaster" Target="/ppt/notesMasters/notesMaster1.xml" Id="R591daedf21d6469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e3fec28a2454cfe" /><Relationship Type="http://schemas.openxmlformats.org/officeDocument/2006/relationships/notesMaster" Target="/ppt/notesMasters/notesMaster1.xml" Id="R0fe3c247feac459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0abc16a9f1c4ee6" /><Relationship Type="http://schemas.openxmlformats.org/officeDocument/2006/relationships/notesMaster" Target="/ppt/notesMasters/notesMaster1.xml" Id="R13b93d65231f4c1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bf5d3d1d83c483b" /><Relationship Type="http://schemas.openxmlformats.org/officeDocument/2006/relationships/notesMaster" Target="/ppt/notesMasters/notesMaster1.xml" Id="Rb0437652e5f6404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19e7c29917d4b7f" /><Relationship Type="http://schemas.openxmlformats.org/officeDocument/2006/relationships/notesMaster" Target="/ppt/notesMasters/notesMaster1.xml" Id="R042cc9cb44c144b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0ae037497bf4221" /><Relationship Type="http://schemas.openxmlformats.org/officeDocument/2006/relationships/notesMaster" Target="/ppt/notesMasters/notesMaster1.xml" Id="R512473729276473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63ae01bc08648dd" /><Relationship Type="http://schemas.openxmlformats.org/officeDocument/2006/relationships/notesMaster" Target="/ppt/notesMasters/notesMaster1.xml" Id="Rf8afc4c5f399441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de318ee40254fc8" /><Relationship Type="http://schemas.openxmlformats.org/officeDocument/2006/relationships/notesMaster" Target="/ppt/notesMasters/notesMaster1.xml" Id="R7c2be263b8d2476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19533a6d78467b" /><Relationship Type="http://schemas.openxmlformats.org/officeDocument/2006/relationships/notesMaster" Target="/ppt/notesMasters/notesMaster1.xml" Id="Rb3ffbf8bcdf2484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dd0e60688124d0c" /><Relationship Type="http://schemas.openxmlformats.org/officeDocument/2006/relationships/notesMaster" Target="/ppt/notesMasters/notesMaster1.xml" Id="R7f46cd75883e449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ebf746961ef4cc1" /><Relationship Type="http://schemas.openxmlformats.org/officeDocument/2006/relationships/notesMaster" Target="/ppt/notesMasters/notesMaster1.xml" Id="Rf17af9c140ea491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d3bba4f50ad4543" /><Relationship Type="http://schemas.openxmlformats.org/officeDocument/2006/relationships/notesMaster" Target="/ppt/notesMasters/notesMaster1.xml" Id="Rca28f91e5b70436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b8251f504594623" /><Relationship Type="http://schemas.openxmlformats.org/officeDocument/2006/relationships/notesMaster" Target="/ppt/notesMasters/notesMaster1.xml" Id="Rd41bd55e55a9472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e8df9f979ce4845" /><Relationship Type="http://schemas.openxmlformats.org/officeDocument/2006/relationships/notesMaster" Target="/ppt/notesMasters/notesMaster1.xml" Id="R891f107e0295452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303253127cb4401" /><Relationship Type="http://schemas.openxmlformats.org/officeDocument/2006/relationships/notesMaster" Target="/ppt/notesMasters/notesMaster1.xml" Id="R1c48c33185c14ca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5bd49574005483a" /><Relationship Type="http://schemas.openxmlformats.org/officeDocument/2006/relationships/notesMaster" Target="/ppt/notesMasters/notesMaster1.xml" Id="R18521fece30243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官方来源（访问日期 2026-09-17）：</a:t>
            </a:r>
          </a:p>
          <a:p xmlns:a="http://schemas.openxmlformats.org/drawingml/2006/main">
            <a:r>
              <a:t>Apple 产品页</a:t>
            </a:r>
          </a:p>
          <a:p xmlns:a="http://schemas.openxmlformats.org/drawingml/2006/main">
            <a:r>
              <a:t>https://www.apple.com/iphone-18-pro/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官方来源（访问日期 2026-09-17）：</a:t>
            </a:r>
          </a:p>
          <a:p xmlns:a="http://schemas.openxmlformats.org/drawingml/2006/main">
            <a:r>
              <a:t>Apple 产品页</a:t>
            </a:r>
          </a:p>
          <a:p xmlns:a="http://schemas.openxmlformats.org/drawingml/2006/main">
            <a:r>
              <a:t>https://www.apple.com/iphone-18-pro/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Sony AF+ 更新公告（2025-10-30）</a:t>
            </a:r>
          </a:p>
          <a:p xmlns:a="http://schemas.openxmlformats.org/drawingml/2006/main">
            <a:r>
              <a:t>https://www.sony.co.uk/presscentre/free-software-update-to-enhance-real-time-recognition-af-auto-focus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Pocket 4 / 3 对焦模式说明</a:t>
            </a:r>
          </a:p>
          <a:p xmlns:a="http://schemas.openxmlformats.org/drawingml/2006/main">
            <a:r>
              <a:t>https://repair.dji.com/help/content?customId=01700009262&amp;lang=en&amp;paperDocType=ARTICLE&amp;re=US&amp;spaceId=17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Insta360 跟踪方式比较</a:t>
            </a:r>
          </a:p>
          <a:p xmlns:a="http://schemas.openxmlformats.org/drawingml/2006/main">
            <a:r>
              <a:t>https://onlinemanual.insta360.com/flow2pro/en-us/operating-tutorials/track/comparison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官方来源（访问日期 2026-09-17）：</a:t>
            </a:r>
          </a:p>
          <a:p xmlns:a="http://schemas.openxmlformats.org/drawingml/2006/main">
            <a:r>
              <a:t>Apple 产品页</a:t>
            </a:r>
          </a:p>
          <a:p xmlns:a="http://schemas.openxmlformats.org/drawingml/2006/main">
            <a:r>
              <a:t>https://www.apple.com/iphone-18-pro/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Sony AF+ 更新公告（2025-10-30）</a:t>
            </a:r>
          </a:p>
          <a:p xmlns:a="http://schemas.openxmlformats.org/drawingml/2006/main">
            <a:r>
              <a:t>https://www.sony.co.uk/presscentre/free-software-update-to-enhance-real-time-recognition-af-auto-focus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Canon R5 II 注册人物优先</a:t>
            </a:r>
          </a:p>
          <a:p xmlns:a="http://schemas.openxmlformats.org/drawingml/2006/main">
            <a:r>
              <a:t>https://cam.start.canon/en/C017/manual/html/UG-04_AF-Drive_0080.html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Nikon Z8 对焦在线手册</a:t>
            </a:r>
          </a:p>
          <a:p xmlns:a="http://schemas.openxmlformats.org/drawingml/2006/main">
            <a:r>
              <a:t>https://onlinemanual.nikonimglib.com/z8/en/focus_31.html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Samsung S26 相机功能支持</a:t>
            </a:r>
          </a:p>
          <a:p xmlns:a="http://schemas.openxmlformats.org/drawingml/2006/main">
            <a:r>
              <a:t>https://www.samsung.com/us/support/answer/ANS10010343/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官方来源（访问日期 2026-09-17）：</a:t>
            </a:r>
          </a:p>
          <a:p xmlns:a="http://schemas.openxmlformats.org/drawingml/2006/main">
            <a:r>
              <a:t>DJI Pocket 3 官方支持</a:t>
            </a:r>
          </a:p>
          <a:p xmlns:a="http://schemas.openxmlformats.org/drawingml/2006/main">
            <a:r>
              <a:t>https://www.dji.com/support/product/osmo-pocket-3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Pocket 4 / 3 对焦模式说明</a:t>
            </a:r>
          </a:p>
          <a:p xmlns:a="http://schemas.openxmlformats.org/drawingml/2006/main">
            <a:r>
              <a:t>https://repair.dji.com/help/content?customId=01700009262&amp;lang=en&amp;paperDocType=ARTICLE&amp;re=US&amp;spaceId=17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Insta360 跟踪方式比较</a:t>
            </a:r>
          </a:p>
          <a:p xmlns:a="http://schemas.openxmlformats.org/drawingml/2006/main">
            <a:r>
              <a:t>https://onlinemanual.insta360.com/flow2pro/en-us/operating-tutorials/track/comparison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官方来源（访问日期 2026-09-17）：</a:t>
            </a:r>
          </a:p>
          <a:p xmlns:a="http://schemas.openxmlformats.org/drawingml/2006/main">
            <a:r>
              <a:t>Apple 产品页</a:t>
            </a:r>
          </a:p>
          <a:p xmlns:a="http://schemas.openxmlformats.org/drawingml/2006/main">
            <a:r>
              <a:t>https://www.apple.com/iphone-18-pro/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Apple 技术规格</a:t>
            </a:r>
          </a:p>
          <a:p xmlns:a="http://schemas.openxmlformats.org/drawingml/2006/main">
            <a:r>
              <a:t>https://www.apple.com/iphone-18-pro/specs/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官方来源（访问日期 2026-09-17）：</a:t>
            </a:r>
          </a:p>
          <a:p xmlns:a="http://schemas.openxmlformats.org/drawingml/2006/main">
            <a:r>
              <a:t>Sony AF+ 更新公告（2025-10-30）</a:t>
            </a:r>
          </a:p>
          <a:p xmlns:a="http://schemas.openxmlformats.org/drawingml/2006/main">
            <a:r>
              <a:t>https://www.sony.co.uk/presscentre/free-software-update-to-enhance-real-time-recognition-af-auto-focus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Sony α9 III 对焦帮助</a:t>
            </a:r>
          </a:p>
          <a:p xmlns:a="http://schemas.openxmlformats.org/drawingml/2006/main">
            <a:r>
              <a:t>https://helpguide.sony.net/ilc/2380/v1/en/contents/211h_subject_recognition_af.html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官方来源（访问日期 2026-09-17）：</a:t>
            </a:r>
          </a:p>
          <a:p xmlns:a="http://schemas.openxmlformats.org/drawingml/2006/main">
            <a:r>
              <a:t>Canon R5 II 注册人物优先</a:t>
            </a:r>
          </a:p>
          <a:p xmlns:a="http://schemas.openxmlformats.org/drawingml/2006/main">
            <a:r>
              <a:t>https://cam.start.canon/en/C017/manual/html/UG-04_AF-Drive_0080.html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Canon AF 设置指南</a:t>
            </a:r>
          </a:p>
          <a:p xmlns:a="http://schemas.openxmlformats.org/drawingml/2006/main">
            <a:r>
              <a:t>https://cam.start.canon/en/C017/guide/html/index.html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官方来源（访问日期 2026-09-17）：</a:t>
            </a:r>
          </a:p>
          <a:p xmlns:a="http://schemas.openxmlformats.org/drawingml/2006/main">
            <a:r>
              <a:t>Nikon Z8 对焦在线手册</a:t>
            </a:r>
          </a:p>
          <a:p xmlns:a="http://schemas.openxmlformats.org/drawingml/2006/main">
            <a:r>
              <a:t>https://onlinemanual.nikonimglib.com/z8/en/focus_31.html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Nikon Z8 官方产品页</a:t>
            </a:r>
          </a:p>
          <a:p xmlns:a="http://schemas.openxmlformats.org/drawingml/2006/main">
            <a:r>
              <a:t>https://imaging.nikon.com/imaging/lineup/mirrorless/z_8/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官方来源（访问日期 2026-09-17）：</a:t>
            </a:r>
          </a:p>
          <a:p xmlns:a="http://schemas.openxmlformats.org/drawingml/2006/main">
            <a:r>
              <a:t>DJI Pocket 3 官方支持</a:t>
            </a:r>
          </a:p>
          <a:p xmlns:a="http://schemas.openxmlformats.org/drawingml/2006/main">
            <a:r>
              <a:t>https://www.dji.com/support/product/osmo-pocket-3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Pocket 4 / 3 对焦模式说明</a:t>
            </a:r>
          </a:p>
          <a:p xmlns:a="http://schemas.openxmlformats.org/drawingml/2006/main">
            <a:r>
              <a:t>https://repair.dji.com/help/content?customId=01700009262&amp;lang=en&amp;paperDocType=ARTICLE&amp;re=US&amp;spaceId=17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官方来源（访问日期 2026-09-17）：</a:t>
            </a:r>
          </a:p>
          <a:p xmlns:a="http://schemas.openxmlformats.org/drawingml/2006/main">
            <a:r>
              <a:t>Insta360 跟踪方式比较</a:t>
            </a:r>
          </a:p>
          <a:p xmlns:a="http://schemas.openxmlformats.org/drawingml/2006/main">
            <a:r>
              <a:t>https://onlinemanual.insta360.com/flow2pro/en-us/operating-tutorials/track/comparison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Insta360 Flow 2 Pro 发布页</a:t>
            </a:r>
          </a:p>
          <a:p xmlns:a="http://schemas.openxmlformats.org/drawingml/2006/main">
            <a:r>
              <a:t>https://news.insta360.com/flow2pro/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官方来源（访问日期 2026-09-17）：</a:t>
            </a:r>
          </a:p>
          <a:p xmlns:a="http://schemas.openxmlformats.org/drawingml/2006/main">
            <a:r>
              <a:t>Samsung S26 相机功能支持</a:t>
            </a:r>
          </a:p>
          <a:p xmlns:a="http://schemas.openxmlformats.org/drawingml/2006/main">
            <a:r>
              <a:t>https://www.samsung.com/us/support/answer/ANS10010343/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Samsung S26 Ultra 产品页</a:t>
            </a:r>
          </a:p>
          <a:p xmlns:a="http://schemas.openxmlformats.org/drawingml/2006/main">
            <a:r>
              <a:t>https://www.samsung.com/us/smartphones/galaxy-s26-ultra/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测量补充：q 采用相同高对比标靶 ROI 的 Tenengrad 梯度能量，相对同镜头、曝光、照明、距离、姿态下手动最佳合焦参考值归一化。标靶放置在目标脸部同深度平面，先做标靶存在与否的干扰对照。相同尺度和固定处理链，禁止跨设备比较绝对梯度。自然人脸片段另做人盲评复核。CE 的默认目标点为画面中心(0.5,0.5)，自定义构图组冻结指定归一化坐标并分组。意外出画计为系统失败，同时报告出画时间占比；不以 CE 单项掩盖出画。全部阈值为项目建议。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本页为项目建议测试协议，参数和评分阈值不是厂商承诺或行业标准。</a:t>
            </a:r>
          </a:p>
          <a:p xmlns:a="http://schemas.openxmlformats.org/drawingml/2006/main">
            <a:r>
              <a:t>全部结果图均为模板或明确标注的模拟数据，尚未开展设备实测。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Apple 产品页</a:t>
            </a:r>
          </a:p>
          <a:p xmlns:a="http://schemas.openxmlformats.org/drawingml/2006/main">
            <a:r>
              <a:t>https://www.apple.com/iphone-18-pro/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Apple 技术规格</a:t>
            </a:r>
          </a:p>
          <a:p xmlns:a="http://schemas.openxmlformats.org/drawingml/2006/main">
            <a:r>
              <a:t>https://www.apple.com/iphone-18-pro/specs/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Sony AF+ 更新公告（2025-10-30）</a:t>
            </a:r>
          </a:p>
          <a:p xmlns:a="http://schemas.openxmlformats.org/drawingml/2006/main">
            <a:r>
              <a:t>https://www.sony.co.uk/presscentre/free-software-update-to-enhance-real-time-recognition-af-auto-focus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Sony α9 III 对焦帮助</a:t>
            </a:r>
          </a:p>
          <a:p xmlns:a="http://schemas.openxmlformats.org/drawingml/2006/main">
            <a:r>
              <a:t>https://helpguide.sony.net/ilc/2380/v1/en/contents/211h_subject_recognition_af.html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Canon R5 II 注册人物优先</a:t>
            </a:r>
          </a:p>
          <a:p xmlns:a="http://schemas.openxmlformats.org/drawingml/2006/main">
            <a:r>
              <a:t>https://cam.start.canon/en/C017/manual/html/UG-04_AF-Drive_0080.html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Canon AF 设置指南</a:t>
            </a:r>
          </a:p>
          <a:p xmlns:a="http://schemas.openxmlformats.org/drawingml/2006/main">
            <a:r>
              <a:t>https://cam.start.canon/en/C017/guide/html/index.html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Nikon Z8 对焦在线手册</a:t>
            </a:r>
          </a:p>
          <a:p xmlns:a="http://schemas.openxmlformats.org/drawingml/2006/main">
            <a:r>
              <a:t>https://onlinemanual.nikonimglib.com/z8/en/focus_31.html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Nikon Z8 官方产品页</a:t>
            </a:r>
          </a:p>
          <a:p xmlns:a="http://schemas.openxmlformats.org/drawingml/2006/main">
            <a:r>
              <a:t>https://imaging.nikon.com/imaging/lineup/mirrorless/z_8/</a:t>
            </a:r>
          </a:p>
          <a:p xmlns:a="http://schemas.openxmlformats.org/drawingml/2006/main">
            <a:r>
              <a:t>访问日期 2026-09-17。官方产品图片保持为嵌入位图，其上新增文字、表格、图表和测试示意均为原生可编辑对象。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DJI Pocket 3 官方支持</a:t>
            </a:r>
          </a:p>
          <a:p xmlns:a="http://schemas.openxmlformats.org/drawingml/2006/main">
            <a:r>
              <a:t>https://www.dji.com/support/product/osmo-pocket-3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Pocket 4 / 3 对焦模式说明</a:t>
            </a:r>
          </a:p>
          <a:p xmlns:a="http://schemas.openxmlformats.org/drawingml/2006/main">
            <a:r>
              <a:t>https://repair.dji.com/help/content?customId=01700009262&amp;lang=en&amp;paperDocType=ARTICLE&amp;re=US&amp;spaceId=17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Insta360 跟踪方式比较</a:t>
            </a:r>
          </a:p>
          <a:p xmlns:a="http://schemas.openxmlformats.org/drawingml/2006/main">
            <a:r>
              <a:t>https://onlinemanual.insta360.com/flow2pro/en-us/operating-tutorials/track/comparison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Insta360 Flow 2 Pro 发布页</a:t>
            </a:r>
          </a:p>
          <a:p xmlns:a="http://schemas.openxmlformats.org/drawingml/2006/main">
            <a:r>
              <a:t>https://news.insta360.com/flow2pro/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Samsung S26 相机功能支持</a:t>
            </a:r>
          </a:p>
          <a:p xmlns:a="http://schemas.openxmlformats.org/drawingml/2006/main">
            <a:r>
              <a:t>https://www.samsung.com/us/support/answer/ANS10010343/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Samsung S26 Ultra 产品页</a:t>
            </a:r>
          </a:p>
          <a:p xmlns:a="http://schemas.openxmlformats.org/drawingml/2006/main">
            <a:r>
              <a:t>https://www.samsung.com/us/smartphones/galaxy-s26-ultra/</a:t>
            </a:r>
          </a:p>
          <a:p xmlns:a="http://schemas.openxmlformats.org/drawingml/2006/main">
            <a:r>
              <a:t>访问日期 2026-09-17。官方产品图片保持为嵌入位图，其上新增文字、表格、图表和测试示意均为原生可编辑对象。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a248613fb40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36bfbe990d43cd" /><Relationship Type="http://schemas.openxmlformats.org/officeDocument/2006/relationships/slideLayout" Target="/ppt/slideLayouts/slideLayout1.xml" Id="Ra6bf9f81b4f847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bf9f81b4f847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282992e834bbd" /><Relationship Type="http://schemas.openxmlformats.org/officeDocument/2006/relationships/image" Target="/ppt/media/image.jpeg" Id="Rc1e2ddc0db3a4193" /><Relationship Type="http://schemas.openxmlformats.org/officeDocument/2006/relationships/notesSlide" Target="/ppt/notesSlides/notesSlide1.xml" Id="R4098f216915c4f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7b2922ad84aa1" /><Relationship Type="http://schemas.openxmlformats.org/officeDocument/2006/relationships/notesSlide" Target="/ppt/notesSlides/notesSlide2.xml" Id="Rd23536da784f42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0c752e7e244bf" /><Relationship Type="http://schemas.openxmlformats.org/officeDocument/2006/relationships/notesSlide" Target="/ppt/notesSlides/notesSlide3.xml" Id="R6289c93fbaaa43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3497dc9444398" /><Relationship Type="http://schemas.openxmlformats.org/officeDocument/2006/relationships/notesSlide" Target="/ppt/notesSlides/notesSlide4.xml" Id="Re9e2aa7bf3ce45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1de7be21346e4" /><Relationship Type="http://schemas.openxmlformats.org/officeDocument/2006/relationships/notesSlide" Target="/ppt/notesSlides/notesSlide5.xml" Id="R74453f1a840f4f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237f34cfa4905" /><Relationship Type="http://schemas.openxmlformats.org/officeDocument/2006/relationships/image" Target="/ppt/media/image2.jpeg" Id="Rbdffa21288bc4ad6" /><Relationship Type="http://schemas.openxmlformats.org/officeDocument/2006/relationships/notesSlide" Target="/ppt/notesSlides/notesSlide6.xml" Id="R4159501a8d324a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1a77e62984f7d" /><Relationship Type="http://schemas.openxmlformats.org/officeDocument/2006/relationships/notesSlide" Target="/ppt/notesSlides/notesSlide7.xml" Id="Rba5de0fd8c214d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0c2a74a9e428b" /><Relationship Type="http://schemas.openxmlformats.org/officeDocument/2006/relationships/image" Target="/ppt/media/image.png" Id="R09006eb572834340" /><Relationship Type="http://schemas.openxmlformats.org/officeDocument/2006/relationships/notesSlide" Target="/ppt/notesSlides/notesSlide8.xml" Id="R50bf9972cfaf4a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ab5979f494786" /><Relationship Type="http://schemas.openxmlformats.org/officeDocument/2006/relationships/image" Target="/ppt/media/image3.jpeg" Id="Rbc7a82b335de48e5" /><Relationship Type="http://schemas.openxmlformats.org/officeDocument/2006/relationships/notesSlide" Target="/ppt/notesSlides/notesSlide9.xml" Id="Rbb66f3e4db3749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71181712f4716" /><Relationship Type="http://schemas.openxmlformats.org/officeDocument/2006/relationships/image" Target="/ppt/media/image2.png" Id="Racd2c86c9ad145fc" /><Relationship Type="http://schemas.openxmlformats.org/officeDocument/2006/relationships/notesSlide" Target="/ppt/notesSlides/notesSlide10.xml" Id="R3752139a0bb54d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ebd11b9e8487d" /><Relationship Type="http://schemas.openxmlformats.org/officeDocument/2006/relationships/image" Target="/ppt/media/image3.png" Id="R30f3370837654896" /><Relationship Type="http://schemas.openxmlformats.org/officeDocument/2006/relationships/notesSlide" Target="/ppt/notesSlides/notesSlide11.xml" Id="Racdcf3fc4fd94a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777e3bd3f4df9" /><Relationship Type="http://schemas.openxmlformats.org/officeDocument/2006/relationships/image" Target="/ppt/media/image4.jpeg" Id="Rc1e08e82b59e45ff" /><Relationship Type="http://schemas.openxmlformats.org/officeDocument/2006/relationships/notesSlide" Target="/ppt/notesSlides/notesSlide12.xml" Id="Rd421e5f5e1004a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41b3c87ad48d6" /><Relationship Type="http://schemas.openxmlformats.org/officeDocument/2006/relationships/notesSlide" Target="/ppt/notesSlides/notesSlide13.xml" Id="R004f1499803745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f2d3635f54a7f" /><Relationship Type="http://schemas.openxmlformats.org/officeDocument/2006/relationships/notesSlide" Target="/ppt/notesSlides/notesSlide14.xml" Id="Rb51a51a3232846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9ae162b96425e" /><Relationship Type="http://schemas.openxmlformats.org/officeDocument/2006/relationships/notesSlide" Target="/ppt/notesSlides/notesSlide15.xml" Id="R61975c8809df49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e93bbc85f4ded" /><Relationship Type="http://schemas.openxmlformats.org/officeDocument/2006/relationships/notesSlide" Target="/ppt/notesSlides/notesSlide16.xml" Id="R97361725079d4b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63c102f4e46e1" /><Relationship Type="http://schemas.openxmlformats.org/officeDocument/2006/relationships/notesSlide" Target="/ppt/notesSlides/notesSlide17.xml" Id="R69990ed6dd8340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34fa1f1d34995" /><Relationship Type="http://schemas.openxmlformats.org/officeDocument/2006/relationships/notesSlide" Target="/ppt/notesSlides/notesSlide18.xml" Id="Re5508e1f3b6f4b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931a9639c489f" /><Relationship Type="http://schemas.openxmlformats.org/officeDocument/2006/relationships/notesSlide" Target="/ppt/notesSlides/notesSlide19.xml" Id="R4d0507b3d49c4b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38d9839bd4121" /><Relationship Type="http://schemas.openxmlformats.org/officeDocument/2006/relationships/notesSlide" Target="/ppt/notesSlides/notesSlide20.xml" Id="Rf00c0153c9d64a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7749e28d84700" /><Relationship Type="http://schemas.openxmlformats.org/officeDocument/2006/relationships/notesSlide" Target="/ppt/notesSlides/notesSlide21.xml" Id="R104ac44effec471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ecc9987804dee" /><Relationship Type="http://schemas.openxmlformats.org/officeDocument/2006/relationships/notesSlide" Target="/ppt/notesSlides/notesSlide22.xml" Id="R61d2031f6758486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5b14eb4914a20" /><Relationship Type="http://schemas.openxmlformats.org/officeDocument/2006/relationships/notesSlide" Target="/ppt/notesSlides/notesSlide23.xml" Id="Rf1938e9207fc4c1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003b02b9b4e34" /><Relationship Type="http://schemas.openxmlformats.org/officeDocument/2006/relationships/notesSlide" Target="/ppt/notesSlides/notesSlide24.xml" Id="R44de56acfbd1466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c282d8fa24999" /><Relationship Type="http://schemas.openxmlformats.org/officeDocument/2006/relationships/notesSlide" Target="/ppt/notesSlides/notesSlide25.xml" Id="R508e961850aa4f4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be49601eb45d0" /><Relationship Type="http://schemas.openxmlformats.org/officeDocument/2006/relationships/notesSlide" Target="/ppt/notesSlides/notesSlide26.xml" Id="R22ce02644a9e4ef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05e4fec744fc6" /><Relationship Type="http://schemas.openxmlformats.org/officeDocument/2006/relationships/notesSlide" Target="/ppt/notesSlides/notesSlide27.xml" Id="R7203ebaba07f443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cdd1677b74cd5" /><Relationship Type="http://schemas.openxmlformats.org/officeDocument/2006/relationships/notesSlide" Target="/ppt/notesSlides/notesSlide28.xml" Id="Rcf6b423e1b18497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9f4d61ece4873" /><Relationship Type="http://schemas.openxmlformats.org/officeDocument/2006/relationships/notesSlide" Target="/ppt/notesSlides/notesSlide29.xml" Id="R9ab56ec8ab08449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5d3ada9d24675" /><Relationship Type="http://schemas.openxmlformats.org/officeDocument/2006/relationships/chart" Target="/ppt/slides/charts/chart1.xml" Id="R57612022cd6d4c4d" /><Relationship Type="http://schemas.openxmlformats.org/officeDocument/2006/relationships/notesSlide" Target="/ppt/notesSlides/notesSlide30.xml" Id="Racadfb5c3f664f6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7cad540fc47ed" /><Relationship Type="http://schemas.openxmlformats.org/officeDocument/2006/relationships/chart" Target="/ppt/slides/charts/chart2.xml" Id="Ree5c61eaf0174685" /><Relationship Type="http://schemas.openxmlformats.org/officeDocument/2006/relationships/notesSlide" Target="/ppt/notesSlides/notesSlide31.xml" Id="R3aca4e36109f477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63062eba342fd" /><Relationship Type="http://schemas.openxmlformats.org/officeDocument/2006/relationships/notesSlide" Target="/ppt/notesSlides/notesSlide32.xml" Id="Rf0b314c5e2b1478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b6df7afda43fa" /><Relationship Type="http://schemas.openxmlformats.org/officeDocument/2006/relationships/notesSlide" Target="/ppt/notesSlides/notesSlide33.xml" Id="R734a707aa8d748f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67d26cabb49ca" /><Relationship Type="http://schemas.openxmlformats.org/officeDocument/2006/relationships/notesSlide" Target="/ppt/notesSlides/notesSlide34.xml" Id="R9b266b543f8142f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5fdcab69b4933" /><Relationship Type="http://schemas.openxmlformats.org/officeDocument/2006/relationships/notesSlide" Target="/ppt/notesSlides/notesSlide35.xml" Id="R92612a7da6a64d1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方案 X（模拟）</c:v>
          </c:tx>
          <c:spPr>
            <a:solidFill xmlns:a="http://schemas.openxmlformats.org/drawingml/2006/main">
              <a:srgbClr val="42D9D0"/>
            </a:solidFill>
          </c:spPr>
          <c:cat>
            <c:strRef>
              <c:f>'Chart Data'!$A$2:$A$5</c:f>
              <c:strCache>
                <c:ptCount val="4"/>
                <c:pt idx="0">
                  <c:v>交叉</c:v>
                </c:pt>
                <c:pt idx="1">
                  <c:v>遮挡</c:v>
                </c:pt>
                <c:pt idx="2">
                  <c:v>重入</c:v>
                </c:pt>
                <c:pt idx="3">
                  <c:v>全程</c:v>
                </c:pt>
              </c:strCache>
            </c:strRef>
          </c:cat>
          <c:val>
            <c:numRef>
              <c:f>'Chart Data'!$B$2:$B$5</c:f>
              <c:numCache>
                <c:formatCode>0"%"</c:formatCode>
                <c:ptCount val="4"/>
                <c:pt idx="0">
                  <c:v>96</c:v>
                </c:pt>
                <c:pt idx="1">
                  <c:v>93</c:v>
                </c:pt>
                <c:pt idx="2">
                  <c:v>86</c:v>
                </c:pt>
                <c:pt idx="3">
                  <c:v>80</c:v>
                </c:pt>
              </c:numCache>
            </c:numRef>
          </c:val>
        </c:ser>
        <c:ser>
          <c:idx val="1"/>
          <c:order val="1"/>
          <c:tx>
            <c:v>方案 Y（模拟）</c:v>
          </c:tx>
          <c:spPr>
            <a:solidFill xmlns:a="http://schemas.openxmlformats.org/drawingml/2006/main">
              <a:srgbClr val="FFBD66"/>
            </a:solidFill>
          </c:spPr>
          <c:cat>
            <c:strRef>
              <c:f>'Chart Data'!$C$2:$C$5</c:f>
              <c:strCache>
                <c:ptCount val="4"/>
                <c:pt idx="0">
                  <c:v>交叉</c:v>
                </c:pt>
                <c:pt idx="1">
                  <c:v>遮挡</c:v>
                </c:pt>
                <c:pt idx="2">
                  <c:v>重入</c:v>
                </c:pt>
                <c:pt idx="3">
                  <c:v>全程</c:v>
                </c:pt>
              </c:strCache>
            </c:strRef>
          </c:cat>
          <c:val>
            <c:numRef>
              <c:f>'Chart Data'!$D$2:$D$5</c:f>
              <c:numCache>
                <c:formatCode>0"%"</c:formatCode>
                <c:ptCount val="4"/>
                <c:pt idx="0">
                  <c:v>90</c:v>
                </c:pt>
                <c:pt idx="1">
                  <c:v>86</c:v>
                </c:pt>
                <c:pt idx="2">
                  <c:v>76</c:v>
                </c:pt>
                <c:pt idx="3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2F6FA"/>
                  </a:solidFill>
                  <a:latin typeface="Heiti SC"/>
                  <a:ea typeface="Heiti SC"/>
                  <a:cs typeface="Hei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0445C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9132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F2F6FA"/>
              </a:solidFill>
              <a:latin typeface="Heiti SC"/>
              <a:ea typeface="Heiti SC"/>
              <a:cs typeface="Heiti SC"/>
            </a:defRPr>
          </a:pPr>
        </a:p>
      </c:txPr>
    </c:legend>
    <c:plotVisOnly val="1"/>
  </c:chart>
  <c:spPr>
    <a:solidFill xmlns:a="http://schemas.openxmlformats.org/drawingml/2006/main">
      <a:srgbClr val="091321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清晰度 q（模拟）</c:v>
          </c:tx>
          <c:spPr>
            <a:ln xmlns:a="http://schemas.openxmlformats.org/drawingml/2006/main" w="28575">
              <a:solidFill>
                <a:srgbClr val="42D9D0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</c:numCache>
            </c:numRef>
          </c:cat>
          <c:val>
            <c:numRef>
              <c:f>'Chart Data'!$B$2:$B$9</c:f>
              <c:numCache>
                <c:formatCode>0.0</c:formatCode>
                <c:ptCount val="8"/>
                <c:pt idx="0">
                  <c:v>0.96</c:v>
                </c:pt>
                <c:pt idx="1">
                  <c:v>0.95</c:v>
                </c:pt>
                <c:pt idx="2">
                  <c:v>0.89</c:v>
                </c:pt>
                <c:pt idx="3">
                  <c:v>0.25</c:v>
                </c:pt>
                <c:pt idx="4">
                  <c:v>0.55</c:v>
                </c:pt>
                <c:pt idx="5">
                  <c:v>0.3</c:v>
                </c:pt>
                <c:pt idx="6">
                  <c:v>0.86</c:v>
                </c:pt>
                <c:pt idx="7">
                  <c:v>0.95</c:v>
                </c:pt>
              </c:numCache>
            </c:numRef>
          </c:val>
          <c:smooth val="0"/>
        </c:ser>
        <c:ser>
          <c:idx val="1"/>
          <c:order val="1"/>
          <c:tx>
            <c:v>可用门槛 q=0.8</c:v>
          </c:tx>
          <c:spPr>
            <a:ln xmlns:a="http://schemas.openxmlformats.org/drawingml/2006/main" w="19050">
              <a:solidFill>
                <a:srgbClr val="FFBD66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</c:numCache>
            </c:numRef>
          </c:cat>
          <c:val>
            <c:numRef>
              <c:f>'Chart Data'!$D$2:$D$9</c:f>
              <c:numCache>
                <c:formatCode>0.0</c:formatCode>
                <c:ptCount val="8"/>
                <c:pt idx="0">
                  <c:v>0.8</c:v>
                </c:pt>
                <c:pt idx="1">
                  <c:v>0.8</c:v>
                </c:pt>
                <c:pt idx="2">
                  <c:v>0.8</c:v>
                </c:pt>
                <c:pt idx="3">
                  <c:v>0.8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SC"/>
                  <a:ea typeface="Heiti SC"/>
                  <a:cs typeface="Heiti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iti SC"/>
                    <a:ea typeface="Heiti SC"/>
                    <a:cs typeface="Heiti SC"/>
                  </a:rPr>
                  <a:t>时间（秒）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SC"/>
                  <a:ea typeface="Heiti SC"/>
                  <a:cs typeface="Heiti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0445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09132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F2F6FA"/>
              </a:solidFill>
              <a:latin typeface="Heiti SC"/>
              <a:ea typeface="Heiti SC"/>
              <a:cs typeface="Heiti SC"/>
            </a:defRPr>
          </a:pPr>
        </a:p>
      </c:txPr>
    </c:legend>
    <c:plotVisOnly val="1"/>
  </c:chart>
  <c:spPr>
    <a:solidFill xmlns:a="http://schemas.openxmlformats.org/drawingml/2006/main">
      <a:srgbClr val="091321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B51DE-21C1-48BD-8BCB-E4BC3B0D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竞品研究 / 测试协议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85E46-4FA5-4619-B080-60765AA4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41374-52FD-46B7-8750-60A588A1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D0BDC-7D11-47D6-8558-953A1C1D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86CEA-089D-41C7-9227-067FCBAB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370A3-1B79-4FFC-978F-6D677557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97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来源：Apple 产品页 · 2026-09-17 核实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2ddc0db3a4193"/>
          <a:stretch xmlns:a="http://schemas.openxmlformats.org/drawingml/2006/main"/>
        </p:blipFill>
        <p:spPr>
          <a:xfrm xmlns:a="http://schemas.openxmlformats.org/drawingml/2006/main">
            <a:off x="5905500" y="1877483"/>
            <a:ext cx="6096000" cy="29125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35F16-9631-4C08-8485-85755895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57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465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智能跟踪对焦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42B70-D707-46CA-B111-826E8AA2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695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竞品分析与测试方案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C25B7-1223-4E1F-B3AF-EA1632FA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以 iPhone 18 Pro 为核心基准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B3817-D5A6-4584-B514-954B3D56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官方功能核验 2026.09.17</a:t>
            </a:r>
          </a:p>
          <a:p xmlns:a="http://schemas.openxmlformats.org/drawingml/2006/main">
            <a:pPr>
              <a:defRPr sz="16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Golden Case · 量化评分 · 可复用记录模板</a:t>
            </a:r>
          </a:p>
        </p:txBody>
      </p:sp>
    </p:spTree>
    <p:extLst>
      <p:ext uri="{BB962C8B-B14F-4D97-AF65-F5344CB8AC3E}">
        <p14:creationId xmlns:p14="http://schemas.microsoft.com/office/powerpoint/2010/main" val="106649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4C34B-3A5F-4156-96E2-4824229A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研究范围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32705-A91B-4B0A-AB7C-56F4B10D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研究结论与证据边界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9A652-06B8-4E4B-947C-EA641DA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28FF7-97A9-4385-8466-571FB29E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1F35E-CD6E-445A-9681-0D1CB7D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9BCC7-23E7-43F7-B70B-484F597D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97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来源：Apple 产品页 / Sony AF+ 更新公告（2025-10-30） / DJI Pocket 4 / 3 对焦模式说明 / Insta360 跟踪方式比较 · 2026-09-17 核实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94A49-0E38-4BD8-99DD-0F63952E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iPhone 18 Pro 的离框重入是核心验证点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F98A2-2592-47A1-A4C8-37912B23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官网确认照片 / 视频跟踪及重入后继续对焦，未公开恢复时间、成功率和完整限制。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A6F83-5C05-4DE3-A5AC-E43FF245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专业相机重点观察身份保持，云台重点观察构图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EC952-8B1E-4141-87BC-CFDBD28B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Sony α9 III 采用 AF+ 更新能力。Canon 和 Nikon 的主体选择、跟焦策略单独比较。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E8E3C-EBA2-4D7A-92B8-6294073A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最新资料与前文基线同时保留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46ABA-9A6A-4715-93BC-8F1A1530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Pocket 3 保留为历史基线，补入 Pocket 4 系列对焦模式。Flow 的三种追踪路径分开测试。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EE058-B303-45A8-83A8-A341842D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本文件交付测试设计，不提供未经实测的性能排名。建议阈值需经小样本预试后冻结。</a:t>
            </a:r>
          </a:p>
        </p:txBody>
      </p:sp>
    </p:spTree>
    <p:extLst>
      <p:ext uri="{BB962C8B-B14F-4D97-AF65-F5344CB8AC3E}">
        <p14:creationId xmlns:p14="http://schemas.microsoft.com/office/powerpoint/2010/main" val="432521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49688-1E89-478A-AE7F-B98E9791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能力拆解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E1653-9108-4BF0-821D-EB075812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能力链：从选择主体到清晰、稳定的画面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247A9-AC98-4ADD-802D-FF6459DF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98BB3-61F1-412D-B4F0-EEF61C7B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F1447-D370-4369-8495-E82672D5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A9706-571A-4098-A5EA-34F76B7C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42D9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43ACC-6D41-470A-8047-66781196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762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检测</a:t>
            </a:r>
          </a:p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画面里有什么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0E46D-ECFD-41B5-8BFB-E947624F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D9D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7F4E2-19D1-49EF-8AE2-37010DDA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9550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42D9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86549-8CE4-4175-9AC0-8E8F2F00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209800"/>
            <a:ext cx="1762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选择 / 识别</a:t>
            </a:r>
          </a:p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我要拍谁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38D01-7AEA-4658-A9A7-8F2BC246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9080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D9D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ADE8D-7168-4BCE-9BD9-DF3D3DCA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42D9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A3403-8683-48E8-A6E4-F13BFC4A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1762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时序跟踪</a:t>
            </a:r>
          </a:p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还是同一主体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26983-D2D3-417A-A954-FB44163E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D9D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D2CB3-609F-4989-A3CF-88B650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42D9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E832A-537C-4180-BDA6-B4F488DA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09800"/>
            <a:ext cx="1762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对焦控制</a:t>
            </a:r>
          </a:p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主体是否清晰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F2C67-2438-48FB-ABF2-A885D191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9080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D9D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F24EB-E50D-4D50-948F-ABCE08B2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9550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42D9D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0862D-AAEE-4B38-864C-65AA6459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09800"/>
            <a:ext cx="1762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构图控制</a:t>
            </a:r>
          </a:p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主体位于哪里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C2BCC-6776-4B42-8E23-BA105764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丢失与恢复支路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1A416-1E5B-4AF2-BAAB-E743F9AB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004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部分遮挡 / 完全遮挡 / 离开视场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CC108-FDAA-4198-B8D8-D864A4B6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保留目标身份 → 搜索候选 → 重入身份确认 → 恢复跟焦 / 构图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BF3EF-7875-414B-846D-2B7877D7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每帧分别标注 ID、对焦、构图。跟踪框正确不等于合焦，云台跟随不等于身份正确。</a:t>
            </a:r>
          </a:p>
        </p:txBody>
      </p:sp>
    </p:spTree>
    <p:extLst>
      <p:ext uri="{BB962C8B-B14F-4D97-AF65-F5344CB8AC3E}">
        <p14:creationId xmlns:p14="http://schemas.microsoft.com/office/powerpoint/2010/main" val="1361647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1544A-53E8-4A06-A295-1D2D454F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官方功能对照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0AD59-AE9F-404D-99D2-CFF83BE7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竞品能力地图：相机与手机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B27FE-9BDC-41D3-8E3A-79666CD3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0CFBC-67B7-4A09-A084-8D42CA1A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EFDCC-AA18-4EDC-9480-AACCA521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42C2A-6DF7-45F3-ADE8-8BB0A7AE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97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来源：Apple 产品页 / Sony AF+ 更新公告（2025-10-30） / Canon R5 II 注册人物优先 / Nikon Z8 对焦在线手册 / Samsung S26 相机功能支持 · 2026-09-17 核实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524375"/>
                <a:gridCol w="4429125"/>
              </a:tblGrid>
              <a:tr h="657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对象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官方已确认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本轮重点验证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iPhone 18 Pro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Smart focus tracking；照片 / 视频；离框重入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A/B 身份保持、重入时延、镜头 / 模式边界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Sony α9 III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Real-time Recognition AF+；人体姿态；目标 Auto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交叉时防误切、眼 / 头 / 身体回退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Canon R5 Mark II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注册人物优先；Eye Control；主体检测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注册前后收益、切换意图、遮挡恢复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Nikon Z8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主体检测；照片 3D / 视频 Subject-tracking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小主体、复杂背景、出框后的行为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Galaxy S26 Ultra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Tracking auto focus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模式和倍率限制、误切与恢复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4690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41C40-1DC3-4D65-A4C2-53980A96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官方功能对照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EBE5F-DA5E-4147-A7B9-DFB6FCFE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竞品能力地图：跟焦与云台控制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5CC85-0F02-494D-9516-444B1E54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CE64E-933D-4FBE-836E-5130591D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1933E-DF35-45B8-A8A9-53650FE3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D9132-485F-4D0D-8C19-8AE09BBB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97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来源：DJI Pocket 3 官方支持 / DJI Pocket 4 / 3 对焦模式说明 / Insta360 跟踪方式比较 · 2026-09-17 核实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095750"/>
                <a:gridCol w="44291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对象 / 路径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跟踪 / 对焦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构图与限制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Pocket 3 / ActiveTrack 6.0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主体跟踪；全像素快速对焦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机械云台；Face Auto-Detect / Dynamic Framing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Pocket 4 系列 / AFC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Subject Lock / Registered Subject Priority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仅锁焦、不跟随云台；Subject Lock 离框取消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Pocket 4 系列 / ActiveTrack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锁定焦点与云台跟随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与上面 AFC 主体模式切换，分别测试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Flow 2 Pro / Deep Track 4.0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人物 Re-ID；支持人、动物、物体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Insta360 App；多人、主动变焦、构图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Flow 2 Pro / DockKit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官方表列不支持人物 Re-ID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iPhone 原生路径；不可套用 Deep Track 成绩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3D426-CBDE-4FB9-925A-7DDAD3FA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Flow 独立 AI Tracker 为额外配置，官方表列支持人物 Re-ID，应另建测试行。</a:t>
            </a:r>
          </a:p>
        </p:txBody>
      </p:sp>
    </p:spTree>
    <p:extLst>
      <p:ext uri="{BB962C8B-B14F-4D97-AF65-F5344CB8AC3E}">
        <p14:creationId xmlns:p14="http://schemas.microsoft.com/office/powerpoint/2010/main" val="686954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53D9B-0E70-41B2-9D67-E1CCFFD4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手机基准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F1564-02F6-48D9-A0C0-A0D85DB0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iPhone 18 Pro：重入承诺的实测拆解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8094C-064D-4AAD-8DE9-CE60FEC1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3ECE0-2763-4665-9199-B3CEADC2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EF3DE-99F3-432B-8ABC-C58AF97F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E2440-23E2-462A-A2C9-790569D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97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来源：Apple 产品页 / Apple 技术规格 · 2026-09-17 核实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fa21288bc4ad6"/>
          <a:stretch xmlns:a="http://schemas.openxmlformats.org/drawingml/2006/main"/>
        </p:blipFill>
        <p:spPr>
          <a:xfrm xmlns:a="http://schemas.openxmlformats.org/drawingml/2006/main">
            <a:off x="7856228" y="1685925"/>
            <a:ext cx="2861293" cy="3476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1D7C3-C7A9-462B-A1E5-3B6B5683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已确认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0BEB3-707D-44FE-A770-A73085FC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Smart focus tracking 覆盖照片和视频，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主体离框后重入可继续保持对焦。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283B5-2CC0-4F2F-BB69-1661D062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待测边界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BD5D5-0D20-401B-B051-625A1F60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触发 / 取消操作、非人物类别、离框时长、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相似人物干扰、各镜头及帧率组合。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61C0C-84CF-4318-ACB1-2831162F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主问题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6EAE8-4204-47DA-AAFE-5F89A694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恢复的是原主体 A，还是场景中新出现的人？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4F938-CE21-4360-AAC8-418B1ED6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官方图片仅示意功能。Re-ID 在本方案中指“重入后找回同一人”的外部行为，不推断算法实现。</a:t>
            </a:r>
          </a:p>
        </p:txBody>
      </p:sp>
    </p:spTree>
    <p:extLst>
      <p:ext uri="{BB962C8B-B14F-4D97-AF65-F5344CB8AC3E}">
        <p14:creationId xmlns:p14="http://schemas.microsoft.com/office/powerpoint/2010/main" val="20927641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DC5C8-298A-4830-A8C9-94B1AC52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专业相机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F792B-A796-4FF7-9DD4-33D38931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Sony α9 III：交叉场景中的身份保持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AA7AE-D737-4260-B9AA-5EE66730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852BD-3F28-45EC-8F2A-F157CDFE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7EBD9-D61B-4E55-8892-BD60DCAF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6D570-2C05-4AF6-BBBD-77F65B7C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97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来源：Sony AF+ 更新公告（2025-10-30） / Sony α9 III 对焦帮助 · 2026-09-17 核实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69BFF-E883-4218-9BEE-A6DF085F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AF+ 更新提供交叉运动场景的研究价值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29399-4373-4704-8529-F0BCD53B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42D9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FA0C6-3029-4A62-9CC8-BBD2732A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813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身体姿态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3F189-8F67-4D0C-B017-225A08ED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00375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D9D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8CC98-A82A-4EAB-9863-18FAD933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670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42D9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40C2C-F666-4502-8017-8578FAB0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813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头部位置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C320F-2E72-4567-B5C0-5C4FC9EB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00375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D9D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E417B-9D0B-490C-B619-AF0C6019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42D9D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EB781-C086-4256-B204-38748783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眼部落点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6F3DF-05E7-4E1F-B75E-58643F58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建议配置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77E09-DB50-4D3D-ACA2-0A268DEC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记录实装固件。AF+ 由 Ver.4.0 引入，使用最新可用稳定版并冻结设置。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C357A-C017-4D47-8504-EB26705A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对照设计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63D1A-6846-439F-B159-CE296C8D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720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人物类目 / Auto 分别测试。统一初始目标 A，保持 AF 激活，记录识别框与成片焦点。</a:t>
            </a:r>
          </a:p>
        </p:txBody>
      </p:sp>
    </p:spTree>
    <p:extLst>
      <p:ext uri="{BB962C8B-B14F-4D97-AF65-F5344CB8AC3E}">
        <p14:creationId xmlns:p14="http://schemas.microsoft.com/office/powerpoint/2010/main" val="2017485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FFC3E-A753-433B-846B-18AD6F4D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专业相机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EF86E-1BD5-464B-BDCD-4ACFDFD4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Canon R5 Mark II：人物优先与选主体交互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E681E-7280-4AE0-B1D7-3047A891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79A9A-38E7-4130-8586-44EB7C4A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A57FF-356C-4C47-9E96-D31CB0FA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58326-547D-4F78-83B3-88997EBB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97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来源：Canon R5 II 注册人物优先 / Canon AF 设置指南 · 2026-09-17 核实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06eb572834340"/>
          <a:stretch xmlns:a="http://schemas.openxmlformats.org/drawingml/2006/main"/>
        </p:blipFill>
        <p:spPr>
          <a:xfrm xmlns:a="http://schemas.openxmlformats.org/drawingml/2006/main">
            <a:off x="7762875" y="1998662"/>
            <a:ext cx="3619500" cy="241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42516-5DC4-422E-82E8-83AE0B7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注册人物优先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BFA65-EE3F-4352-B278-89676EC2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比较未注册、仅注册 A、A/B 均注册且 A 优先。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预注册属于配置能力，不能与零配置成绩混合。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ED954-9F6A-421C-88B6-95E243AC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Eye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39A23-2236-4381-9849-7DE97C8A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通过摄影者视线辅助选择主体，需先校准。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与识别被摄者眼睛的 Eye Detection 区分。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EBF53-2148-4251-97B8-660CD1E4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关键观察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17DEF-CA4A-4898-9E35-0053DDA3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B 更大、更近或更居中时，是否仍保持 A。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Eye Control 选中耗时作为交互附加指标。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9F143-05A7-43E1-890A-CA5D96C4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815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官方注册人物界面</a:t>
            </a:r>
          </a:p>
        </p:txBody>
      </p:sp>
    </p:spTree>
    <p:extLst>
      <p:ext uri="{BB962C8B-B14F-4D97-AF65-F5344CB8AC3E}">
        <p14:creationId xmlns:p14="http://schemas.microsoft.com/office/powerpoint/2010/main" val="4835057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B3053-4CA3-422C-B98F-7E942F2E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专业相机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6D6BE-639E-4543-977D-CAF140A5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Nikon Z8：主体检测与跟踪区域策略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93F32-09B7-4101-8EAD-8F6AC88B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EAB2C-733E-42C9-97AD-4D6889AA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3C6BB-654D-4A57-9288-819B409F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8048D-C257-4E75-AA20-D586231D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97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来源：Nikon Z8 对焦在线手册 / Nikon Z8 官方产品页 · 2026-09-17 核实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a82b335de48e5"/>
          <a:stretch xmlns:a="http://schemas.openxmlformats.org/drawingml/2006/main"/>
        </p:blipFill>
        <p:spPr>
          <a:xfrm xmlns:a="http://schemas.openxmlformats.org/drawingml/2006/main">
            <a:off x="7181850" y="2149936"/>
            <a:ext cx="4429125" cy="272957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BA21F-87AB-4977-AE25-DF306CC6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照片 / 视频模式分开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F225E-6FB3-451D-88F3-AB4632E8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照片使用 AF-C + 3D-tracking。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视频使用 Subject-tracking AF，不能混称 3D。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40433-3A01-4F68-B651-622FCCD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类目与区域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4FDB8-0DF6-4920-A807-B44929FD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按人、动物、鸟、车辆 / 飞机设置。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比较指定类目与 Auto，以及自定义区域。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853B8-01C7-4BEE-AD64-6EE0668D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边界须实测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72F2D-CCC8-40A2-8829-38F9C599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8152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手册提示遮挡、出框、尺度变化、相似背景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可能造成跟踪失败；不能据此承诺 Re-ID。</a:t>
            </a:r>
          </a:p>
        </p:txBody>
      </p:sp>
    </p:spTree>
    <p:extLst>
      <p:ext uri="{BB962C8B-B14F-4D97-AF65-F5344CB8AC3E}">
        <p14:creationId xmlns:p14="http://schemas.microsoft.com/office/powerpoint/2010/main" val="3420863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3E835-1892-4201-80A9-6830ECFD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云台相机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753D3-BB3F-4033-A669-8192DA39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DJI Osmo Pocket：焦点与构图分轨测试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30607-63C1-4DB2-8855-71A1E211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FAF86-533F-409F-8E85-29309E18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A36C0-40C8-494E-B06F-C58E92C9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5AC64-0BC8-4F7C-B1AA-49A6FAE3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97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来源：DJI Pocket 3 官方支持 / DJI Pocket 4 / 3 对焦模式说明 · 2026-09-17 核实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2c86c9ad145fc"/>
          <a:stretch xmlns:a="http://schemas.openxmlformats.org/drawingml/2006/main"/>
        </p:blipFill>
        <p:spPr>
          <a:xfrm xmlns:a="http://schemas.openxmlformats.org/drawingml/2006/main">
            <a:off x="8763000" y="1924050"/>
            <a:ext cx="2619375" cy="2619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FF27A-4EBA-44E9-821C-2A3A0471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814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Pocket 3 作为前文基线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40C2B-3E15-40E0-A6ED-1B108347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814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ActiveTrack 6.0 配合机械云台。普通视频可测低照，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Low-Light 专用模式不支持 ActiveTrack。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A86CE-F778-49F7-A51C-36A57FEC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814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Pocket 4 系列作为更新项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D5017-DD7D-4DB8-96FE-B6010BCA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814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官方支持文档已列 Subject Lock Tracking 与注册主体优先。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两者只控制焦点，基础 ActiveTrack 同时控制云台。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FE413-65D2-4E1A-BA60-BA3C9529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814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不能推导的结论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20789-EA96-4AAE-9559-4CE9E66D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814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Subject Lock 离框取消，不等于所有模式都支持重入恢复。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Pocket 4 具体型号、地区、固件和样机可用性在开测前确认。</a:t>
            </a:r>
          </a:p>
        </p:txBody>
      </p:sp>
    </p:spTree>
    <p:extLst>
      <p:ext uri="{BB962C8B-B14F-4D97-AF65-F5344CB8AC3E}">
        <p14:creationId xmlns:p14="http://schemas.microsoft.com/office/powerpoint/2010/main" val="15469078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78436-8C0F-48B1-9918-05245C36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手机稳定器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DF0DD-7C1D-4A12-9273-64D66122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Flow 2 Pro：跟踪路径决定可用能力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1E07F-76D1-4F13-9819-2966712F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5A373-04F7-428B-8A88-10F60820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FE5D2-6D95-405F-8E0C-F2E9CDEE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DA9EF-89C5-4004-B396-5C185A1C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97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来源：Insta360 跟踪方式比较 / Insta360 Flow 2 Pro 发布页 · 2026-09-17 核实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3370837654896"/>
          <a:stretch xmlns:a="http://schemas.openxmlformats.org/drawingml/2006/main"/>
        </p:blipFill>
        <p:spPr>
          <a:xfrm xmlns:a="http://schemas.openxmlformats.org/drawingml/2006/main">
            <a:off x="7748588" y="1657350"/>
            <a:ext cx="3190875" cy="3190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B3CB5-3EEA-4333-AA5C-04CD8E98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Deep Track 4.0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00E2A-2E6F-400A-AF93-EAFC3D64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653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在 Insta360 App 内测试人物 Re-ID、多人追踪、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Active Zoom Tracking 和 Pro Framing Grid。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1F15E-BDCD-4355-B45B-3A3C188F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DockKit 原生追踪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1E968-8174-418B-A29B-1884ADE0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653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另建 iPhone 原生相机测试组。官方对照表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不支持人物 Re-ID，成绩不与 App 路径合并。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59DAD-D466-4F69-BC17-AAF745F8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同一手机做控制变量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47541-FAA5-4C48-A860-99B84C69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81525"/>
            <a:ext cx="653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“手机单独拍摄”与“同机 + Flow”配对。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合焦由手机成片判定，不能只看云台框。</a:t>
            </a:r>
          </a:p>
        </p:txBody>
      </p:sp>
    </p:spTree>
    <p:extLst>
      <p:ext uri="{BB962C8B-B14F-4D97-AF65-F5344CB8AC3E}">
        <p14:creationId xmlns:p14="http://schemas.microsoft.com/office/powerpoint/2010/main" val="19689969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A423B-A9E8-428E-89E8-A57922E0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手机直接竞品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32EDC-D26F-4905-91C0-16E2AF24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Galaxy S26 Ultra：原生 Tracking AF 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B3050-7A5B-4950-AA51-B800239E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F7421-7D42-4E9B-87DA-176DC0E8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E808E-54A8-43E4-9A18-CC343507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E6059-3762-472F-811E-58E6212D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97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来源：Samsung S26 相机功能支持 / Samsung S26 Ultra 产品页 · 2026-09-17 核实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08e82b59e45ff"/>
          <a:stretch xmlns:a="http://schemas.openxmlformats.org/drawingml/2006/main"/>
        </p:blipFill>
        <p:spPr>
          <a:xfrm xmlns:a="http://schemas.openxmlformats.org/drawingml/2006/main">
            <a:off x="7162800" y="2412633"/>
            <a:ext cx="4438650" cy="16136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2BD67-FF51-4BD5-BF50-8492C3D9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已确认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04A9C-0A24-4DC1-BCB2-9F4AEBB7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Samsung 官方支持页列出 Tracking auto focus，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用于保持运动主体对焦。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69677-61D4-4CE4-BA03-EC635F6A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不预设 Re-ID 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53E64-C8B4-4864-9815-4E917463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官方该条目未承诺离框身份恢复性能。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Golden Case 与 iPhone 使用一致脚本。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10626-BF68-4D8A-86D1-E16E095E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分开验证防抖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74400-9B25-4775-882F-5D800D5F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标准视频与 Super Steady 作为独立模式。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记录视角裁切、可用镜头、帧率与 AF 开关状态。</a:t>
            </a:r>
          </a:p>
        </p:txBody>
      </p:sp>
    </p:spTree>
    <p:extLst>
      <p:ext uri="{BB962C8B-B14F-4D97-AF65-F5344CB8AC3E}">
        <p14:creationId xmlns:p14="http://schemas.microsoft.com/office/powerpoint/2010/main" val="4239268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C8774-C09D-452E-8195-3B2BF638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C70AD-62EC-438C-871C-B648EE50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公平比较：三条测试轨道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9B642-FCA5-42AC-854F-278EB13B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44C8B-A307-476C-AE0B-C23479C1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34510-10A6-4F28-BD7B-251A9F37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13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685925"/>
          <a:ext xmlns:a="http://schemas.openxmlformats.org/drawingml/2006/main" cx="110490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619750"/>
                <a:gridCol w="3286125"/>
              </a:tblGrid>
              <a:tr h="7667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轨道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统一条件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输出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T1 身份与跟焦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固定机位；等效视角约 24–28mm；4K30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目标初始身高占画面约 35%；一次选中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ID 保持 + 对焦质量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构图不计入共同总分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T2 系统跟拍体验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允许原生云台 / 防抖；统一路径与目标尺寸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同手机单机与 Flow 配对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构图误差、抖动、出画率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与 T1 分榜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T3 产品上限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各产品最优模式、长焦及特色配置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公开倍率、镜头、裁切和预注册要求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功能覆盖与能力上限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不混入统一条件排名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F593E-1E80-49F0-B562-3A472FFE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手机优先原生相机。Flow 使用同一部手机并记录 App。照片试验独立重复，不以视频结果代替。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368BC-9823-41F9-87D8-57141D7B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不支持 = UNSUPPORTED；未测 = NOT TESTED；不可观察 = UNOBSERVABLE。三者都不能当成零分或满分。</a:t>
            </a:r>
          </a:p>
        </p:txBody>
      </p:sp>
    </p:spTree>
    <p:extLst>
      <p:ext uri="{BB962C8B-B14F-4D97-AF65-F5344CB8AC3E}">
        <p14:creationId xmlns:p14="http://schemas.microsoft.com/office/powerpoint/2010/main" val="6930354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2A450-E36F-4018-AF66-4BA43DF8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04175-49E5-452C-A1B3-226882C8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采集、同步与标注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C0886-0068-42FF-A143-99DFA597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55753-8748-4D38-8941-4A1F8621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9501C-120D-4D71-AF48-A9AE95EB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7F1AC-3C95-4691-A9C3-4F505BAC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采集三路证据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27D83-DE87-4129-8818-962169BE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设备原始视频 / 照片；外部 120fps 屏幕与操作录像；独立广角场景参考机。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E40F5-3ECD-43DD-9058-DFB53DA5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统一时间与环境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24EDF-029A-4F51-8F09-2BBB84CA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开拍闪光 / 拍板对齐时间戳。500 lux 基线，照度计测主体面部，记录色温、距离与背景。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C5130-8F5F-4130-B109-649DAA6B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标注三类真值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51597-AE52-4717-A9DC-75239162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719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参考机人工标 A/B 身份及可见性；UI 标跟踪状态；原片标主体清晰度和中心位置。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EB1D2-7B94-4E00-89B5-A78287EF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重复与复核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6E8E4-C2C0-4331-BDCB-2FE8E004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434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每个条件先做 5 次预试，再做 30 次正式试验。双人复核 20% 素材及所有失败片段。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8B483-8246-4CAD-9154-1FD285FF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设备运行顺序随机化，A/B 角色互换，三天分批复现。版本、温度、剩余电量、操作者都需留档。</a:t>
            </a:r>
          </a:p>
        </p:txBody>
      </p:sp>
    </p:spTree>
    <p:extLst>
      <p:ext uri="{BB962C8B-B14F-4D97-AF65-F5344CB8AC3E}">
        <p14:creationId xmlns:p14="http://schemas.microsoft.com/office/powerpoint/2010/main" val="6804815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38C00-CF31-44FD-AB1D-C5851253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场景矩阵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D4798-838C-4A06-9855-A26F884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测试场景矩阵 I：身份与运动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0CFCD-8E45-4CF1-AF1B-D2D4DC1E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8BF7D-C20E-4D06-994D-850A53F2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8B2FD-3AF6-47C9-8E29-93C6DF72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10490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095750"/>
                <a:gridCol w="3333750"/>
                <a:gridCol w="1857375"/>
              </a:tblGrid>
              <a:tr h="6699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ID / 优先级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场景与变量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单次脚本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主指标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M01 / P0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基础运动：横移 / 纵深 / 折返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0.5 / 1.5 / 3 m/s，各 12s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识别时间、保持率、清晰率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M02 / P0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A/B 多人交叉：不同 / 相似衣着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前后距离差 0 / 1m，交叉 2 次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误切率、ID 保持率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M03 / P0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遮挡：50% / 100%，0.5 / 1 / 3s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遮挡物通过，A 按标记继续走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恢复时间、误切率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M04 / P0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离框重入：1 / 3 / 5s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同侧 / 异侧，B 留在画面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出框恢复率、恢复时间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M05 / P1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尺度变化：占画高 10 / 30 / 60%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纵深往返，关闭自动变焦做基线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保持率、焦点稳定性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651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71FAB-90E0-4DB3-B3D9-C15B2CB6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场景矩阵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4C0FF-99F9-4C0A-9344-0D53F649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测试场景矩阵 II：画质与系统条件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9286A-4B67-4962-98E3-E1F31C3D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48634-BEF1-4967-B527-DB7F22A2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FD14B-7DCB-4687-8F35-FF48E886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10490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095750"/>
                <a:gridCol w="3333750"/>
                <a:gridCol w="1857375"/>
              </a:tblGrid>
              <a:tr h="6699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ID / 优先级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场景与变量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控制条件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主指标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M06 / P1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长焦：约 100 / 200mm 等效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匹配目标尺度；记录光学 / 裁切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保持率、误切、清晰率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M07 / P0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低照：500 / 50 / 10 lux</a:t>
                      </a:r>
                    </a:p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逆光：背景高 0 / 3 / 5EV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普通视频优先；固定照明与路径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识别时间、恢复、焦点稳定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M08 / P1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复杂背景：树叶 / 人群 / 栅栏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三种背景分别运行同一路径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假框、误切率、保持率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M09 / P1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非人物：猫狗 / 玩具 / 球 / 小车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真实对象与类目设置分别登记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锁定率、保持率、适用范围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M10 / P0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视频：静止 / 步行 / 横摇 / 10min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4K30 基线；4K60 为扩展组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构图、抖动、焦点、掉帧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1694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0420C2-FCAD-4176-A8FC-D6C42A91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核心测试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C148B-3A7A-4AC3-8DD4-20DF6F43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Golden Case：A/B 交叉 → 遮挡 → 离框 → 重入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46CFD-9A9A-4F0D-9CA7-84CB1175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30C6D-9088-40FD-9981-F33AC500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D1336-5C18-4532-BF1E-7B7C4577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D68DB-DACA-4E9A-840C-06587C77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000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0445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0A408-5DEA-461E-9391-B8D57CF3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790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0–3s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654F9-41D1-4066-A62F-006403E0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锁定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5DFA8-9982-4A12-AE6D-707468AD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619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42D9D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3A5F9-72E9-451E-B606-4E29F756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C3E59-3F5E-411D-9A8F-2A4DE9E0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819400"/>
            <a:ext cx="619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FFBD6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F26A4-22E3-43DA-9BD0-38390E3F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3370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2724A-9830-4D0C-947A-F99E7D9B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95500"/>
            <a:ext cx="2000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0445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53C29-CB62-4EA9-AAA3-A0FC5CCD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676400"/>
            <a:ext cx="1790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3–6s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50A11-F3A2-4316-815E-55C1772E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100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A/B 交叉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1955A-F624-4F10-BD27-EC96CCF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19375"/>
            <a:ext cx="619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42D9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AAF4A-F307-4A46-8DA5-7E5A9732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336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A9494-C313-42AF-A23D-139A69F4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00375"/>
            <a:ext cx="619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FFBD6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2AFDF-1CF8-49EE-B549-9DCC1997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146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78849-81C2-4512-830E-29C3530A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2000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0445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09E1DE-44AB-4421-B110-52F7711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76400"/>
            <a:ext cx="1790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6–8s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2831F-12D4-4B71-A861-0BE3368B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100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A 完全遮挡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0B739-477B-4DCF-AFDF-4D5C9AB3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7905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E36529-D279-4BE1-837B-1EF59414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670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遮挡板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7CEA4F-B0F5-4E5D-8690-206EB269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52750"/>
            <a:ext cx="619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FFBD6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6B50CE-E7BC-4DC4-8DDF-9FABA411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6705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F411C-5F6E-45C3-9BE5-C00CC28D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095500"/>
            <a:ext cx="2000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0445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0EEA48-E44B-4009-8335-7527D599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676400"/>
            <a:ext cx="1790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8–11s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49894C-CD72-40AC-97D0-1810DABA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100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A 离框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7CFEB4-424E-438F-9643-C5A36C88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003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A 在视场外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E3A8DA-3FEE-40E7-9385-FFE8EB93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619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FFBD6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0CACF7-3D2C-406D-B5D5-E2A8030C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C7CC43-832F-485A-9D82-E8CF878B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95500"/>
            <a:ext cx="2000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0445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27E3F8-BF35-4734-810E-B7B4E91F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76400"/>
            <a:ext cx="1790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11–15s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D600E0-2857-46B5-AD8A-C836CEFB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100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A 重入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9BBE50-E11C-4788-8595-5E61D082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619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42D9D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9F3CCA-D2BF-4DB5-9C3D-DBF613C0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8605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3E5E88-8D2A-48A1-801E-638F06DA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819400"/>
            <a:ext cx="619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A"/>
          </a:solidFill>
          <a:ln xmlns:a="http://schemas.openxmlformats.org/drawingml/2006/main" w="9525">
            <a:solidFill>
              <a:srgbClr val="FFBD6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B5FBB0-0F52-4E65-8AA5-82F0362A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93370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800" b="1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6596A9-E723-49FD-94E4-341EC715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唯一目标始终为 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845A32-4666-4891-9A8F-9EBCF96B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8632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只在开头选一次主体；B 留在场内干扰；重入后不补点、不重启跟踪。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11DF4B-12B5-40FC-9FFA-8A675CDC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本页为可编辑测试示意，非任何设备的实测画面。完全遮挡期不按“可见帧丢失”计分。</a:t>
            </a:r>
          </a:p>
        </p:txBody>
      </p:sp>
    </p:spTree>
    <p:extLst>
      <p:ext uri="{BB962C8B-B14F-4D97-AF65-F5344CB8AC3E}">
        <p14:creationId xmlns:p14="http://schemas.microsoft.com/office/powerpoint/2010/main" val="19962882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B9C9B-1904-4EDF-A72D-93B4C17E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核心测试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F5AED-D634-4EF1-AAD2-841E180E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Golden Case：场地与事件定义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BAF51-ADBD-4CB3-99E7-C3B8B2AF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DD096-8E6C-43C9-B156-69AA03FE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EA293-94D5-4161-A569-2483870D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18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85925"/>
          <a:ext xmlns:a="http://schemas.openxmlformats.org/drawingml/2006/main" cx="110490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5476875"/>
                <a:gridCol w="3952875"/>
              </a:tblGrid>
              <a:tr h="657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阶段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动作与时点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判定要求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准备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机位距 A 约 6m，高 1.4m；以 35% 画高校准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B 起点在另一侧，比 A 近 1m；500 lux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固定焦段与机位；地面标线；参考机覆盖全场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交叉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t=3s 开始相向移动，1m/s；B 从 A 前方通过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t=3–6s 不得持续锁到 B ≥0.2s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遮挡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t=6s A 进入遮挡板，t=7s 再露出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从可见面积恢复 ≥50% 起计恢复时间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离框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t=8s A 完全出画，t=11s 回到原视场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B 留在成片视场内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出框以设备成片边界为准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重入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A 可见 ≥50% 后继续走到指定标记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2s 内恢复 A 并稳定 ≥0.5s；同时检查原片合焦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723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B1D5C-8532-4F13-A1FF-7D63D401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核心测试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F86C7-470C-4FC4-BE62-09088160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Golden Case：变体、样本与通过条件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88AC6-2DF2-429A-A257-5BEA91DF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F7BFC-D7A2-4FD6-B144-2C5C0C9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8EB0C-6AC5-45CC-83D4-AE7FFE4A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2860C-442E-49D3-9162-0DEB194C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G0 标准组：30 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C0707-FDE4-4D68-B19B-B756BF14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3 对演员 × 左右方向 2 种 × 每种 5 次。每对演员交换 A/B 角色，避免单一外貌偏差。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3304D-E000-40D0-B8AE-F904C0A7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G1 / G2 压力组：各 30 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BBA23-9BAC-4ED3-A753-349C1D8D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G1：相似服装 + 重入朝向改变。G2：离框 5s + B 向画面中心靠近。其余同 G0。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5DE05-422E-42A3-85E3-A4775523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G3 构图组：另跑 30 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4ABF9-65C2-417F-81E8-91DC4F7B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允许云台跟随。A 必须完全离开“实际输出画面”后计时，参考机记录视场变化。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6E1C5-74AE-4FE4-9A7F-E8D658AA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建议 G0 门槛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B47BC-C911-44E2-A1E3-0716E630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76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端到端成功 ≥27/30；误切试验 ≤1/30；恢复时间 P90 ≤1s；合焦可用帧率 ≥95%。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081FE-252A-469A-98AA-BD9CFA4C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91175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成功需同时满足：初始锁定、交叉不误切、遮挡与出框均按时找回 A。G1/G2 单独报告，不替代 G0。</a:t>
            </a:r>
          </a:p>
        </p:txBody>
      </p:sp>
    </p:spTree>
    <p:extLst>
      <p:ext uri="{BB962C8B-B14F-4D97-AF65-F5344CB8AC3E}">
        <p14:creationId xmlns:p14="http://schemas.microsoft.com/office/powerpoint/2010/main" val="7381651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C0C52-BFE4-4A04-B393-02935657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测试用例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B38C0-7F72-4681-B887-7329BC89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基础运动、尺度与长焦的执行细则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8BE56-FD23-4539-BFBF-CE6D691E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78CFB-84C0-4318-A18B-6F933D11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EB121-5FDC-4BA1-AF60-88C9D01B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20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704975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667125"/>
                <a:gridCol w="3095625"/>
                <a:gridCol w="2667000"/>
              </a:tblGrid>
              <a:tr h="8215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项目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可复现动作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避免混杂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附加输出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基础运动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横移 4m；纵深 6m 到 2m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折返处停 0.5s 后反向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记录实际路径速度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急转与匀速分开计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按动作分段保持率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丢失持续时间分布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尺度变化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固定机位、焦段，A 逐渐靠近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在 10 / 30 / 60% 画高标记停留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Auto Zoom 关闭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各距离采手动最佳合焦参考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眼 / 头 / 身体回退时点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尺度与失败概率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长焦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按等效视角配对，不按“×”配对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100 / 200mm 作为目标档位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无法匹配则 N/A 并披露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镜头切换单列用例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长焦保持率与焦点波动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镜头切换后重锁时间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E97A2-6903-4D3A-809F-49B81604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Pocket 3 缺少可比原生长焦，不强行纳入光学长焦组。数码裁切成绩标出处理路径。</a:t>
            </a:r>
          </a:p>
        </p:txBody>
      </p:sp>
    </p:spTree>
    <p:extLst>
      <p:ext uri="{BB962C8B-B14F-4D97-AF65-F5344CB8AC3E}">
        <p14:creationId xmlns:p14="http://schemas.microsoft.com/office/powerpoint/2010/main" val="15037298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42B22-0691-43C1-9393-2E889D02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测试用例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53593-28A6-4638-B7EF-7DFAFBF4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低照、逆光与复杂背景的执行细则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3B0CA-E462-411E-8D70-6B7F20BD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04062-AD27-45E4-8BAE-AC72BAF7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118A5-DFBB-40F0-B1F7-FC1784C8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21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704975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762375"/>
                <a:gridCol w="3190875"/>
                <a:gridCol w="2476500"/>
              </a:tblGrid>
              <a:tr h="833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项目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条件梯度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保持一致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失败证据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低照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500 / 50 / 10 lux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照度计于主体面部测量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相同速度和视角；普通视频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记录快门 / ISO / 降帧行为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运动拖影与失焦分开标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UI 正确但成片模糊单列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逆光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背景相对主体 +0 / +3 / +5 EV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同时记录主体照度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相同背景亮区面积与方向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固定曝光策略；独立 HDR 组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脸部欠曝、炫光、误认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恢复时延的变化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复杂背景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静态树叶、动态人群、栅栏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增加与 A 相似服装的 B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前景遮挡比例 / 距离固定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每组沿同一路径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锁到背景、错人或抖框</a:t>
                      </a:r>
                    </a:p>
                    <a:p>
                      <a:r>
                        <a:rPr sz="172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截取失败前后各 2s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64B7B-6CE1-4858-9CCE-083F3A4A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低照模式可用性先核查。不能为了开启跟踪而悄悄更换帧率或分辨率。</a:t>
            </a:r>
          </a:p>
        </p:txBody>
      </p:sp>
    </p:spTree>
    <p:extLst>
      <p:ext uri="{BB962C8B-B14F-4D97-AF65-F5344CB8AC3E}">
        <p14:creationId xmlns:p14="http://schemas.microsoft.com/office/powerpoint/2010/main" val="19660380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91783-AEC2-4236-A047-73B9255C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测试用例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CC29F-FE6B-4A91-B6D1-912D56E8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非人物与视频稳定性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534A4-2136-4892-9111-073C5218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DBDDF-2C70-4397-A997-96CCDEED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D1717-195C-4C66-BB17-965E5468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5C9D6-1A20-469B-A9A5-D886FBEA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非人物：类别支持与泛化分别观察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8400E-26A0-44A4-9C12-0D075341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猫 / 狗等已声明类别单列。玩具、球和小车做“指定物体”扩展测试，记录锁定与保持。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6E24A-B627-4E84-9B34-E5F76B04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受控路径与自然运动分开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3F20B-8185-4910-9E46-3ED608EA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小车拖动提供可重复轨迹。真实宠物自然运动仅作生态样本，不与受控路径混合排名。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31202-FE0F-4AD4-B1A0-3117059D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480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视频构图与相机抖动分别量化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7EF3A-3B71-48D2-BBA3-C09EC23B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主体中心偏离指定构图点衡量构图；静态背景特征的残余位移衡量抖动，排除有意横摇。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3114B-A2A9-49F1-BFF1-2812F1E5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386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连续运行压力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CA969-8897-48CF-8283-E3F0A398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387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25±2°C，10 分钟 4K30；0 / 5 / 10 分钟各跑一次 G0 简版，记录温度、降帧、停录。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27F87-C531-47CB-A663-53DFCA0F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AF 成片测试建议补拍短曝光诊断组以区分运动模糊；诊断组不替代默认体验组。</a:t>
            </a:r>
          </a:p>
        </p:txBody>
      </p:sp>
    </p:spTree>
    <p:extLst>
      <p:ext uri="{BB962C8B-B14F-4D97-AF65-F5344CB8AC3E}">
        <p14:creationId xmlns:p14="http://schemas.microsoft.com/office/powerpoint/2010/main" val="1704003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28B1B-8082-4E55-B07A-86EB5D84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测量规范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AA1B8-2D83-4073-9231-6E42068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指标定义 I：识别、锁定与身份保持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46E84-0719-4B36-A4DC-0923A21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A1FA0-75EB-43F9-8CE2-36BC8A5F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E9FC8-C08E-4B7E-B3DE-9CFFE37C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23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429250"/>
                <a:gridCol w="3524250"/>
              </a:tblGrid>
              <a:tr h="800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指标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定义与分母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有效性规则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首次识别时间 Tdet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首次稳定正确识别时刻 − 首次满足可检测条件时刻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单位 ms；正确框连续 ≥0.2s 的起点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A 可见 ≥50%、画高 ≥10%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无可观察识别 UI 则 UNOBSERVABLE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锁定成功率 LSR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2s 内正确锁定 A 且保持 ≥0.5s 的试验数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÷ 有效初始锁定试验总数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起点为有效触发动作完成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无框时只报告端到端锁定代理指标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跟踪保持率 THR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可见区间内正确保持 A 身份的帧数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÷ 初次锁定后 A 可见的有效帧数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遮挡 / 离框帧不进分母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恢复等待期可见帧仍计丢失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误切主体率 ISR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至少发生一次持续 ≥0.2s 锁到 B 的试验数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÷ 有效干扰试验总数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同时附误切次数 / 分钟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瞬时假框另记，不混合定义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1939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BF6F2-5D9C-40D0-90A5-024D5607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测量规范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B4BA5-B81C-415A-905B-1DB38366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指标定义 II：恢复、焦点与构图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DBC6E-46CB-4A44-846B-01BD4850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7C1C8-171E-4D4C-B210-9C41837F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1E5B2-A049-4DEA-BC1D-4B9B6B4E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24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1049000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429250"/>
                <a:gridCol w="3524250"/>
              </a:tblGrid>
              <a:tr h="8058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指标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计算方式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窗口与失败处理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遮挡恢复时间 Tocc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A 重新可见 ≥50% 起，至正确跟踪稳定 ≥0.5s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计其稳定段起点；分别报身份 / 合焦恢复时间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2s 内未恢复 = 超时失败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不可仅删除失败样本算平均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出框恢复率 RER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2s 内找回 A 且保持 ≥0.5s 的重入事件数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÷ 有效重入事件总数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需无人工再选；错误找回 B 算失败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另报成功样本时延及全样本封顶时延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焦点稳定性 FS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q = 主体局部清晰度 / 同条件最佳合焦参考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FS = q≥0.8 的有效可见帧数 ÷ 可见有效帧数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ROI 尺度对齐；各镜头 / 距离建参考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人工确认排除拖影，另报拉风箱次数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构图稳定性 CE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e = 主体中心到目标构图点距离 / 画面对角线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CE = 有效跟拍段 e 的 P95，越小越好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必须 A 可见且原本应留在画面</a:t>
                      </a:r>
                    </a:p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报告意外出画率，不能只算幸存帧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5030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8D15B-B153-4C2F-B696-7F5BB57C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量化评分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6BCFE-7D11-4C73-87BA-9C1C35E6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评分标尺：预设五档量化阈值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3A8D6-1D6E-40D2-801B-12851A1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22AEB-7CEE-4401-9D30-B3078D15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501D6-F105-4F53-9120-0EA0F44B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25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543050"/>
                <a:gridCol w="1543050"/>
                <a:gridCol w="1543050"/>
                <a:gridCol w="1543050"/>
                <a:gridCol w="1543050"/>
              </a:tblGrid>
              <a:tr h="52251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指标 / 统计量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5 分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4 分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3 分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2 分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1 分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Tdet：全样本 P90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≤200ms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≤400ms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≤700ms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≤1000ms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&gt;1000ms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LSR / RER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≥98%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≥95%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≥90%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≥80%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&lt;80%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THR / FS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≥98%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≥95%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≥90%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≥80%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&lt;80%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ISR：误切试验率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≤1%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≤3%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≤5%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≤10%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&gt;10%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Tocc：封顶时延 P90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≤300ms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≤600ms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≤1000ms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≤1500ms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&gt;1500ms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CE：归一化偏差 P95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≤2%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≤4%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≤6%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≤10%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&gt;10%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7C0D0-9532-4016-BF71-6DA3A996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按从 5 到 1 首个满足阈值归档，边界含等号。为本项目建议标准，非官方指标或行业认证。</a:t>
            </a:r>
          </a:p>
        </p:txBody>
      </p:sp>
    </p:spTree>
    <p:extLst>
      <p:ext uri="{BB962C8B-B14F-4D97-AF65-F5344CB8AC3E}">
        <p14:creationId xmlns:p14="http://schemas.microsoft.com/office/powerpoint/2010/main" val="19945328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F337C-B585-42AC-9227-5A8F8141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量化评分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92EEE-E31F-445C-B612-19CA3C35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总分、缺失值与统计可信度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832BB-E8F4-4AB4-90B9-8D7966C1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893D7-8E68-462E-A8F7-1CA632DE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9A614-890C-4F96-BDA5-686D877E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26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1049000" cy="283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1428750"/>
                <a:gridCol w="4143375"/>
              </a:tblGrid>
              <a:tr h="56769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共同核心分（T1）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权重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聚合规则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身份保持 THR / 误切 ISR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20% / 20%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各场景先单独计分，适用场景内等权平均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出框恢复 RER / 遮挡恢复 Tocc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20% / 15%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恢复失败时延封顶 2s，同时保留失败比例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焦点稳定 FS / 初始锁定 LSR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15% / 5%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清晰度指标用原片，与 UI 跟踪成绩并列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首次识别时间 Tdet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5%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未识别封顶 2s；无可观察 UI 不参与该子项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F46E4-5239-4ECD-9104-45ABAD9A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核心分 = Σ（单项 1–5 分 × 权重）×20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BF062-1EDE-4A65-86BD-21729180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1100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构图 CE 为独立 100 分榜。若指标缺失，按共同可测子集重算并显示覆盖率，禁止与完整榜混排。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1C649-B51C-4113-BFDF-4E0C8A6B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48325"/>
            <a:ext cx="1100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比例报 Wilson 95% CI；时延报中位数 / P90 / n。30 次的最小步进为 3.3%，精排扩至 ≥100 次。</a:t>
            </a:r>
          </a:p>
        </p:txBody>
      </p:sp>
    </p:spTree>
    <p:extLst>
      <p:ext uri="{BB962C8B-B14F-4D97-AF65-F5344CB8AC3E}">
        <p14:creationId xmlns:p14="http://schemas.microsoft.com/office/powerpoint/2010/main" val="4233093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3BB1C-0737-486A-B936-7424670E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可复用模板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868DE-ECD6-4B7E-BDA5-F9887B73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测试记录模板：设备与试验条件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08FB7-E1A9-44CB-B346-39345A06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9D8A8-A1B3-4645-8500-3F30913D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D5A74-FF97-489F-B2D4-EFBAC730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27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1049000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762250"/>
                <a:gridCol w="2762250"/>
                <a:gridCol w="2762250"/>
              </a:tblGrid>
              <a:tr h="5036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字段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填写内容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字段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填写内容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50363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设备 / 样机编号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系统 / 固件 / App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50363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镜头 / 等效焦距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模式 / 分辨率 / fps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50363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跟踪路径 / 类目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注册人物 / AF 灵敏度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50363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防抖 / 云台 / 变焦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光圈 / 快门 / ISO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50363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用例 ID / 变体 / 次数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A/B 身份 / 操作者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50363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照度 / 背景 EV / 温度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距离 / 路径 / 速度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503634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素材名 / 时间偏移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有效性 / 排除理由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59103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C8E4F-12C5-44FA-8862-D964E932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可复用模板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E2CD8-1421-4530-85E2-BA91AF94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测试记录模板：逐事件与逐帧标注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4923B-EF6E-4A51-8492-BD1BD924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42965-B960-47E3-B4C4-FD4C3831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2A807-51FB-4062-8DA6-A3A99587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28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676400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333625"/>
                <a:gridCol w="1381125"/>
                <a:gridCol w="1381125"/>
                <a:gridCol w="2667000"/>
                <a:gridCol w="1666875"/>
              </a:tblGrid>
              <a:tr h="523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试验 ID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事件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起始时间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结束时间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目标 ID / 结果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证据帧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G0-001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触发 / 首次锁定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G0-001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交叉 / 错切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G0-001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遮挡 / 恢复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G0-001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出框 / 重入恢复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G0-001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拉风箱 / 意外出画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____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E5D2F-E91C-43FB-B34E-701ED523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8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逐帧字段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B11D8-99C1-43A2-9439-6F187DCE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timestamp、visible_A、ID_state（A/B/none）、q、focus_ok、cx、cy、target_cx/cy、frame_valid</a:t>
            </a:r>
          </a:p>
        </p:txBody>
      </p:sp>
    </p:spTree>
    <p:extLst>
      <p:ext uri="{BB962C8B-B14F-4D97-AF65-F5344CB8AC3E}">
        <p14:creationId xmlns:p14="http://schemas.microsoft.com/office/powerpoint/2010/main" val="20811784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F19BC-C470-413E-AB33-BC469D3D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结果可视化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D093A-BB29-4B9F-97DA-2F1E85E7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结果展示模板：分阶段表现与置信区间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CADF7-EABD-48DA-95E8-69D89355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FA306-681F-4B3E-941A-3C63B40B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69BFF-CB72-4592-B56D-FDDAED87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29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238250"/>
                <a:gridCol w="1390650"/>
                <a:gridCol w="1390650"/>
                <a:gridCol w="1390650"/>
                <a:gridCol w="1390650"/>
                <a:gridCol w="1390650"/>
              </a:tblGrid>
              <a:tr h="539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设备 / 模式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有效 n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交叉保持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遮挡恢复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重入恢复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G0 端到端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95% CI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iPhone 18 Pro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Sony / Canon / Nikon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分别填报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Pocket 3 / Pocket 4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分别填报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Flow App / DockKit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分别填报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Galaxy S26 Ultra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待测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50ED8-468B-4125-B1EE-F9BBB896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颜色规则：达到门槛为青色，未达为橙色，失败为红色，未测 / 不支持为灰色。此表不包含真实结果。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FBD7F-DC09-4F2F-9207-EEDC55A0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按用例分层后再看总分。优先复盘“UI 跟着 A，但焦点落在 B”以及“重入找回 B”的片段。</a:t>
            </a:r>
          </a:p>
        </p:txBody>
      </p:sp>
    </p:spTree>
    <p:extLst>
      <p:ext uri="{BB962C8B-B14F-4D97-AF65-F5344CB8AC3E}">
        <p14:creationId xmlns:p14="http://schemas.microsoft.com/office/powerpoint/2010/main" val="154315614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9DBF2-647A-46D2-9B66-4F038DD4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结果可视化 / 模拟数据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595B3-98D2-4AC5-820D-E0FF2752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可编辑图表示例：恢复率与可用画面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50B68-A688-4EB9-8671-A53C2FB5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B1406-B1CA-4C63-B4C9-28B8BBD2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B6F03-8DDE-4EA3-85A0-8BCDF182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30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74295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612022cd6d4c4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85947-8212-429E-8E13-4D6E0255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764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仅演示呈现方式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83224-2B73-48F0-ABA6-506255BB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3372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X / Y 不代表任何品牌。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真实报告需附 n、95% CI、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模式、版本与失败样本。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以配对条件比较差值，</a:t>
            </a:r>
          </a:p>
          <a:p xmlns:a="http://schemas.openxmlformats.org/drawingml/2006/main">
            <a:pPr>
              <a:defRPr sz="1800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不要用模拟值填入竞品榜。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8419E-1A1F-47A4-B216-0B1DFC5B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图表及数据表可编辑，所有数值均为模拟示例。</a:t>
            </a:r>
          </a:p>
        </p:txBody>
      </p:sp>
    </p:spTree>
    <p:extLst>
      <p:ext uri="{BB962C8B-B14F-4D97-AF65-F5344CB8AC3E}">
        <p14:creationId xmlns:p14="http://schemas.microsoft.com/office/powerpoint/2010/main" val="83547703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7F202-2D92-4A6B-9B43-1EC8E1EF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结果可视化 / 模拟数据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221A5-CF04-4F48-8814-EEA580AF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可编辑时间线：身份、清晰度与恢复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DA35B-AD2E-4920-8975-975AFD2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01D5B-85FB-4D4F-870B-03D593D3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943BB-0859-4966-94C1-0F7F87A5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31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1704975"/>
          <a:ext xmlns:a="http://schemas.openxmlformats.org/drawingml/2006/main" cx="8001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5c61eaf017468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82A55-90EF-464E-A21D-E296569C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6212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同一时间轴同步复盘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036D7-92B2-4B71-BC28-3AF69389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2762250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上轨：A/B/none 身份</a:t>
            </a:r>
          </a:p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中轨：清晰度 q</a:t>
            </a:r>
          </a:p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下轨：构图偏差 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遮挡 / 离框标灰区。</a:t>
            </a:r>
          </a:p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正式统计剔除不可见帧，</a:t>
            </a:r>
          </a:p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保留可见恢复等待帧。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55ECE-D020-47D2-A1DD-4B3A3D1F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本图为模拟趋势，不代表实测。灰区标注需与对应素材事件表对齐后添加。</a:t>
            </a:r>
          </a:p>
        </p:txBody>
      </p:sp>
    </p:spTree>
    <p:extLst>
      <p:ext uri="{BB962C8B-B14F-4D97-AF65-F5344CB8AC3E}">
        <p14:creationId xmlns:p14="http://schemas.microsoft.com/office/powerpoint/2010/main" val="5683255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C4C4F-38A8-431B-AB68-5756ECAB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结果分析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DF3C9-7ED7-4BAE-9E59-49025E67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失败归因与复盘证据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5418F-D888-4C37-BF86-2B6CAA94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6C8D3-9F4B-48F8-8DC9-19B99884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E338A-FFDC-480F-875E-A2E4A673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32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85925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3286125"/>
                <a:gridCol w="4762500"/>
              </a:tblGrid>
              <a:tr h="6350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现象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证据组合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优先归因 / 复测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选中即错人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操作录像 + A/B 真值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交互命中 / 初始主体选择，先查触发步骤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框随 A，成片 B 更清晰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UI + 原片双主体 ROI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跟踪与 AF 落点不一致，复测景深与 AF 策略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完全遮挡后粘住 B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事件表 + 恢复窗口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身份保持 / 丢失策略，增加相似衣着干扰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重入后必须再次点击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全程手部录像 + UI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自动恢复失败，另报人工恢复耗时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A 清晰但偏出构图位置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主体轨迹 + 云台角度 / 原片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构图控制或执行延迟，查限位与转速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98766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C3B07-831E-466B-8EEB-4EED98D6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实施计划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7A071-7DBD-4B54-A263-7653B202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执行节奏与评审交付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402D3-2179-4204-99EF-35FBDE47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8BC13-BDB1-4316-8C50-D5A7852C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81A53-A509-431C-B0C9-55516BCF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33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8592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6286500"/>
                <a:gridCol w="2809875"/>
              </a:tblGrid>
              <a:tr h="6953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阶段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工作与产物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2D9D0"/>
                          </a:solidFill>
                          <a:latin typeface="Heiti SC"/>
                          <a:ea typeface="Heiti SC"/>
                          <a:cs typeface="Heiti SC"/>
                        </a:rPr>
                        <a:t>完成条件</a:t>
                      </a:r>
                    </a:p>
                  </a:txBody>
                  <a:tcPr marL="114300" marR="114300" marT="95250" marB="76200" anchor="ctr">
                    <a:solidFill>
                      <a:srgbClr val="13263A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准备 / 半天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确认样机、版本、镜头、场地；建立素材目录</a:t>
                      </a:r>
                    </a:p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核实每种模式开关和不支持项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配置表冻结，触发与录制链路跑通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预试 / 半天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每条件 5 次；校准距离、照度与 q 参考</a:t>
                      </a:r>
                    </a:p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验证遮挡 / 离框是否可重复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调整后冻结协议，正式样本重新计数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正式采集 / 按配置数排期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每配置 G0–G2 共 90 次</a:t>
                      </a:r>
                    </a:p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M01–M10 各选 1 个代表条件 ×30 次起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至少 390 次 / 配置，扩展梯度另计</a:t>
                      </a:r>
                    </a:p>
                  </a:txBody>
                  <a:tcPr marL="114300" marR="114300" marT="95250" marB="76200" anchor="ctr">
                    <a:solidFill>
                      <a:srgbClr val="091321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标注与评审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双人复核，输出指标 / CI / 原片证据</a:t>
                      </a:r>
                    </a:p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分 T1/T2/T3 报告，筛选复现失败片段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2F6FA"/>
                          </a:solidFill>
                          <a:latin typeface="Heiti SC"/>
                          <a:ea typeface="Heiti SC"/>
                          <a:cs typeface="Heiti SC"/>
                        </a:rPr>
                        <a:t>所有分数可回溯原始试验；未测无排名</a:t>
                      </a:r>
                    </a:p>
                  </a:txBody>
                  <a:tcPr marL="114300" marR="114300" marT="95250" marB="76200" anchor="ctr">
                    <a:solidFill>
                      <a:srgbClr val="0E1C2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9167B-DFBE-4277-8179-0A48FB0F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照片与视频分别算配置。可先完成 P0 视频基线，再扩展长焦、非人物与产品上限。</a:t>
            </a:r>
          </a:p>
        </p:txBody>
      </p:sp>
    </p:spTree>
    <p:extLst>
      <p:ext uri="{BB962C8B-B14F-4D97-AF65-F5344CB8AC3E}">
        <p14:creationId xmlns:p14="http://schemas.microsoft.com/office/powerpoint/2010/main" val="17518147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46C1B-CA99-41DE-9E03-D8DAB39D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来源与版本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3F4A7-7F61-4F1F-A6F5-B5091867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官方资料索引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CCBB0-FB2D-455A-9378-CECE496D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71D7F-7EB3-4A26-BC57-EEF8AA9D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5C6F9-D94D-4A65-87CB-CDD12A1A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1517A-5454-4E59-A53F-16BC2EF7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A  Apple 产品页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899C4-B66D-4187-8A97-6745063F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https://www.apple.com/iphone-18-pro/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AF611-F160-4574-A9C4-711E06F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A2  Apple 技术规格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EE2A7-C097-4D92-A238-59A0718F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https://www.apple.com/iphone-18-pro/specs/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EADE5-A746-4247-A753-16A89504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S  Sony AF+ 更新公告（2025-10-30）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EFC03-D107-4661-8B81-57BCA9FA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2892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https://www.sony.co.uk/presscentre/free-software-update-to-enhance-real-time-recognition-af-auto-focus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FB96A-0EDC-4C60-9130-3285FFEA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S2  Sony α9 III 对焦帮助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4BF0E-91BD-40FF-BFDA-4DF35368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https://helpguide.sony.net/ilc/2380/v1/en/contents/211h_subject_recognition_af.html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33F4B-92C2-4EBE-90A2-F215FA36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C  Canon R5 II 注册人物优先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4B63F-D4B6-4F94-AD32-FA22B93E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https://cam.start.canon/en/C017/manual/html/UG-04_AF-Drive_0080.html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E418A-F7F7-4FD6-AB0C-51294823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0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C2  Canon AF 设置指南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2EBF4-E977-4B76-A0C9-67396F69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https://cam.start.canon/en/C017/guide/html/index.html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B98CF-AE21-4367-8E69-8A47CC1D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N  Nikon Z8 对焦在线手册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F2766-B4B3-4382-B8E1-454B0EF1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https://onlinemanual.nikonimglib.com/z8/en/focus_31.html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E9127-79E1-49E1-905A-90DEB665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149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N2  Nikon Z8 官方产品页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B4A4EF-3947-4056-8AA4-28AE1C26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https://imaging.nikon.com/imaging/lineup/mirrorless/z_8/</a:t>
            </a:r>
          </a:p>
        </p:txBody>
      </p:sp>
    </p:spTree>
    <p:extLst>
      <p:ext uri="{BB962C8B-B14F-4D97-AF65-F5344CB8AC3E}">
        <p14:creationId xmlns:p14="http://schemas.microsoft.com/office/powerpoint/2010/main" val="192862690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F63F2-0ADD-4A37-8020-3F268DD8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来源与版本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DDF03-93E1-459C-949F-069D2CFB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6FA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F2F6FA"/>
                </a:solidFill>
                <a:latin typeface="Heiti SC"/>
                <a:ea typeface="Heiti SC"/>
                <a:cs typeface="Heiti SC"/>
              </a:rPr>
              <a:t>官方资料索引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A30F2-217A-401A-B150-6AF40069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932E5-51AF-444E-9F8D-17FBA8C4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智能跟踪对焦竞品分析与测试方案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4C5C6-32F7-4C48-A627-0C0F6146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F1508-91E9-4D2F-B0CB-DEAAAFA7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D  DJI Pocket 3 官方支持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BF450-D39B-403D-BB63-59AC379A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https://www.dji.com/support/product/osmo-pocket-3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1B58C-59E6-4122-82CB-D2CBAC36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D2  DJI Pocket 4 / 3 对焦模式说明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1BF1B-2F81-4012-9A2E-E2BE6DE3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https://repair.dji.com/help/content?customId=01700009262&amp;lang=en&amp;paperDocType=ARTICLE&amp;re=US&amp;spaceId=17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DDA1B-FCE5-4430-B944-05EB71BC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I  Insta360 跟踪方式比较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98176-C8F7-41B2-9E7F-B000C16D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2892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https://onlinemanual.insta360.com/flow2pro/en-us/operating-tutorials/track/comparison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BD71E-5462-48B0-952C-9EE5989E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I2  Insta360 Flow 2 Pro 发布页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928C0-3609-4B2D-987D-4D83BE6B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https://news.insta360.com/flow2pro/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29B02-8778-445F-8714-0E5BD895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G  Samsung S26 相机功能支持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A5779-02D6-4FE9-87EC-14C3C5BA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https://www.samsung.com/us/support/answer/ANS10010343/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771A1-0FAA-4016-80CF-7F2CD59E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0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D9D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42D9D0"/>
                </a:solidFill>
                <a:latin typeface="Heiti SC"/>
                <a:ea typeface="Heiti SC"/>
                <a:cs typeface="Heiti SC"/>
              </a:rPr>
              <a:t>G2  Samsung S26 Ultra 产品页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8C0E1-0B04-4202-A455-6E7FA107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9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A9B8C9"/>
                </a:solidFill>
                <a:latin typeface="Heiti SC"/>
                <a:ea typeface="Heiti SC"/>
                <a:cs typeface="Heiti SC"/>
              </a:rPr>
              <a:t>https://www.samsung.com/us/smartphones/galaxy-s26-ultra/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1056D-224E-4CAB-A09A-0AAC1C0A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BD66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FFBD66"/>
                </a:solidFill>
                <a:latin typeface="Heiti SC"/>
                <a:ea typeface="Heiti SC"/>
                <a:cs typeface="Heiti SC"/>
              </a:rPr>
              <a:t>来源使用说明：图片来自对应厂商网页。每页备注保留官方链接；所有测试阈值均为项目建议。</a:t>
            </a:r>
          </a:p>
        </p:txBody>
      </p:sp>
    </p:spTree>
    <p:extLst>
      <p:ext uri="{BB962C8B-B14F-4D97-AF65-F5344CB8AC3E}">
        <p14:creationId xmlns:p14="http://schemas.microsoft.com/office/powerpoint/2010/main" val="965673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2026-09-17T01:57:38.5710000Z</dcterms:created>
  <dcterms:modified xsi:type="dcterms:W3CDTF">2026-09-17T01:57:38.5710000Z</dcterms:modified>
</coreProperties>
</file>